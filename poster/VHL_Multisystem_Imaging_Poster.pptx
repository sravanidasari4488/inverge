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3440522" cy="18810122"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3440522" cy="1881012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3440522" cy="2606040"/>
          </a:xfrm>
          <a:prstGeom prst="rect">
            <a:avLst/>
          </a:prstGeom>
          <a:solidFill>
            <a:srgbClr val="F6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3440522" cy="109728"/>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9728"/>
            <a:ext cx="33440522" cy="36576"/>
          </a:xfrm>
          <a:prstGeom prst="rect">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 y="329184"/>
            <a:ext cx="1691640" cy="1691640"/>
          </a:xfrm>
          <a:prstGeom prst="roundRect">
            <a:avLst>
              <a:gd name="adj" fmla="val 10000"/>
            </a:avLst>
          </a:prstGeom>
          <a:solidFill>
            <a:srgbClr val="FFFFFF"/>
          </a:solidFill>
          <a:ln w="1587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 y="402336"/>
            <a:ext cx="1545336" cy="1545336"/>
          </a:xfrm>
          <a:prstGeom prst="roundRect">
            <a:avLst>
              <a:gd name="adj" fmla="val 8000"/>
            </a:avLst>
          </a:prstGeom>
          <a:solidFill>
            <a:srgbClr val="F2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18972"/>
            <a:ext cx="1691640" cy="512064"/>
          </a:xfrm>
          <a:prstGeom prst="rect">
            <a:avLst/>
          </a:prstGeom>
          <a:noFill/>
        </p:spPr>
        <p:txBody>
          <a:bodyPr wrap="square" anchor="ctr">
            <a:spAutoFit/>
          </a:bodyPr>
          <a:lstStyle/>
          <a:p>
            <a:pPr algn="ctr">
              <a:spcBef>
                <a:spcPts val="0"/>
              </a:spcBef>
              <a:spcAft>
                <a:spcPts val="0"/>
              </a:spcAft>
            </a:pPr>
            <a:r>
              <a:rPr sz="1300" b="1">
                <a:solidFill>
                  <a:srgbClr val="5B6573"/>
                </a:solidFill>
                <a:latin typeface="Calibri"/>
                <a:ea typeface="Calibri"/>
                <a:cs typeface="Calibri"/>
              </a:rPr>
              <a:t>Institution Logo</a:t>
            </a:r>
          </a:p>
        </p:txBody>
      </p:sp>
      <p:sp>
        <p:nvSpPr>
          <p:cNvPr id="9" name="Rounded Rectangle 8"/>
          <p:cNvSpPr/>
          <p:nvPr/>
        </p:nvSpPr>
        <p:spPr>
          <a:xfrm>
            <a:off x="31383122" y="329184"/>
            <a:ext cx="1691640" cy="1691640"/>
          </a:xfrm>
          <a:prstGeom prst="roundRect">
            <a:avLst>
              <a:gd name="adj" fmla="val 10000"/>
            </a:avLst>
          </a:prstGeom>
          <a:solidFill>
            <a:srgbClr val="FFFFFF"/>
          </a:solidFill>
          <a:ln w="1587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1456274" y="402336"/>
            <a:ext cx="1545336" cy="1545336"/>
          </a:xfrm>
          <a:prstGeom prst="roundRect">
            <a:avLst>
              <a:gd name="adj" fmla="val 8000"/>
            </a:avLst>
          </a:prstGeom>
          <a:solidFill>
            <a:srgbClr val="F2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383122" y="918972"/>
            <a:ext cx="1691640" cy="512064"/>
          </a:xfrm>
          <a:prstGeom prst="rect">
            <a:avLst/>
          </a:prstGeom>
          <a:noFill/>
        </p:spPr>
        <p:txBody>
          <a:bodyPr wrap="square" anchor="ctr">
            <a:spAutoFit/>
          </a:bodyPr>
          <a:lstStyle/>
          <a:p>
            <a:pPr algn="ctr">
              <a:spcBef>
                <a:spcPts val="0"/>
              </a:spcBef>
              <a:spcAft>
                <a:spcPts val="0"/>
              </a:spcAft>
            </a:pPr>
            <a:r>
              <a:rPr sz="1300" b="1">
                <a:solidFill>
                  <a:srgbClr val="5B6573"/>
                </a:solidFill>
                <a:latin typeface="Calibri"/>
                <a:ea typeface="Calibri"/>
                <a:cs typeface="Calibri"/>
              </a:rPr>
              <a:t>Conference Logo</a:t>
            </a:r>
          </a:p>
        </p:txBody>
      </p:sp>
      <p:sp>
        <p:nvSpPr>
          <p:cNvPr id="12" name="Rounded Rectangle 11"/>
          <p:cNvSpPr/>
          <p:nvPr/>
        </p:nvSpPr>
        <p:spPr>
          <a:xfrm>
            <a:off x="2286000" y="274320"/>
            <a:ext cx="4572000" cy="310896"/>
          </a:xfrm>
          <a:prstGeom prst="roundRect">
            <a:avLst>
              <a:gd name="adj" fmla="val 50000"/>
            </a:avLst>
          </a:prstGeom>
          <a:solidFill>
            <a:srgbClr val="E5EF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274320"/>
            <a:ext cx="4572000" cy="310896"/>
          </a:xfrm>
          <a:prstGeom prst="rect">
            <a:avLst/>
          </a:prstGeom>
          <a:noFill/>
        </p:spPr>
        <p:txBody>
          <a:bodyPr wrap="square" anchor="ctr">
            <a:spAutoFit/>
          </a:bodyPr>
          <a:lstStyle/>
          <a:p>
            <a:pPr algn="ctr">
              <a:spcBef>
                <a:spcPts val="0"/>
              </a:spcBef>
              <a:spcAft>
                <a:spcPts val="0"/>
              </a:spcAft>
            </a:pPr>
            <a:r>
              <a:rPr sz="1400" b="1">
                <a:solidFill>
                  <a:srgbClr val="2D6CDF"/>
                </a:solidFill>
                <a:latin typeface="Calibri"/>
                <a:ea typeface="Calibri"/>
                <a:cs typeface="Calibri"/>
              </a:rPr>
              <a:t>Neuroradiology  ·  Oncoradiology</a:t>
            </a:r>
          </a:p>
        </p:txBody>
      </p:sp>
      <p:sp>
        <p:nvSpPr>
          <p:cNvPr id="14" name="TextBox 13"/>
          <p:cNvSpPr txBox="1"/>
          <p:nvPr/>
        </p:nvSpPr>
        <p:spPr>
          <a:xfrm>
            <a:off x="2286000" y="621792"/>
            <a:ext cx="28868522" cy="1097280"/>
          </a:xfrm>
          <a:prstGeom prst="rect">
            <a:avLst/>
          </a:prstGeom>
          <a:noFill/>
        </p:spPr>
        <p:txBody>
          <a:bodyPr wrap="square" anchor="t">
            <a:spAutoFit/>
          </a:bodyPr>
          <a:lstStyle/>
          <a:p>
            <a:pPr algn="l">
              <a:spcBef>
                <a:spcPts val="0"/>
              </a:spcBef>
              <a:spcAft>
                <a:spcPts val="0"/>
              </a:spcAft>
            </a:pPr>
            <a:r>
              <a:rPr sz="4800" b="1">
                <a:solidFill>
                  <a:srgbClr val="12355B"/>
                </a:solidFill>
                <a:latin typeface="Calibri"/>
                <a:ea typeface="Calibri"/>
                <a:cs typeface="Calibri"/>
              </a:rPr>
              <a:t>Connecting the Dots: Multisystem Imaging Clues Leading to the Diagnosis of Von Hippel–Lindau Disease</a:t>
            </a:r>
          </a:p>
        </p:txBody>
      </p:sp>
      <p:sp>
        <p:nvSpPr>
          <p:cNvPr id="15" name="TextBox 14"/>
          <p:cNvSpPr txBox="1"/>
          <p:nvPr/>
        </p:nvSpPr>
        <p:spPr>
          <a:xfrm>
            <a:off x="2286000" y="1719072"/>
            <a:ext cx="28868522" cy="292608"/>
          </a:xfrm>
          <a:prstGeom prst="rect">
            <a:avLst/>
          </a:prstGeom>
          <a:noFill/>
        </p:spPr>
        <p:txBody>
          <a:bodyPr wrap="square" anchor="t">
            <a:spAutoFit/>
          </a:bodyPr>
          <a:lstStyle/>
          <a:p>
            <a:pPr algn="l">
              <a:spcBef>
                <a:spcPts val="0"/>
              </a:spcBef>
              <a:spcAft>
                <a:spcPts val="0"/>
              </a:spcAft>
            </a:pPr>
            <a:r>
              <a:rPr sz="1800" b="0">
                <a:solidFill>
                  <a:srgbClr val="2A3138"/>
                </a:solidFill>
                <a:latin typeface="Calibri"/>
                <a:ea typeface="Calibri"/>
                <a:cs typeface="Calibri"/>
              </a:rPr>
              <a:t>Dr. Bikkasani Divya (Postgraduate)    ·    Dr. M. Krishna Sowmya (Assistant Professor)</a:t>
            </a:r>
          </a:p>
        </p:txBody>
      </p:sp>
      <p:sp>
        <p:nvSpPr>
          <p:cNvPr id="16" name="TextBox 15"/>
          <p:cNvSpPr txBox="1"/>
          <p:nvPr/>
        </p:nvSpPr>
        <p:spPr>
          <a:xfrm>
            <a:off x="2286000" y="1993392"/>
            <a:ext cx="28868522" cy="256032"/>
          </a:xfrm>
          <a:prstGeom prst="rect">
            <a:avLst/>
          </a:prstGeom>
          <a:noFill/>
        </p:spPr>
        <p:txBody>
          <a:bodyPr wrap="square" anchor="t">
            <a:spAutoFit/>
          </a:bodyPr>
          <a:lstStyle/>
          <a:p>
            <a:pPr algn="l">
              <a:spcBef>
                <a:spcPts val="0"/>
              </a:spcBef>
              <a:spcAft>
                <a:spcPts val="0"/>
              </a:spcAft>
            </a:pPr>
            <a:r>
              <a:rPr sz="1600" b="1">
                <a:solidFill>
                  <a:srgbClr val="5B6573"/>
                </a:solidFill>
                <a:latin typeface="Calibri"/>
                <a:ea typeface="Calibri"/>
                <a:cs typeface="Calibri"/>
              </a:rPr>
              <a:t>Dr. Pinnamaneni Siddhartha Institute of Medical Sciences and Research Foundation</a:t>
            </a:r>
          </a:p>
        </p:txBody>
      </p:sp>
      <p:sp>
        <p:nvSpPr>
          <p:cNvPr id="17" name="Rounded Rectangle 16"/>
          <p:cNvSpPr/>
          <p:nvPr/>
        </p:nvSpPr>
        <p:spPr>
          <a:xfrm>
            <a:off x="2286000" y="2286000"/>
            <a:ext cx="2926080" cy="292608"/>
          </a:xfrm>
          <a:prstGeom prst="roundRect">
            <a:avLst>
              <a:gd name="adj" fmla="val 50000"/>
            </a:avLst>
          </a:prstGeom>
          <a:solidFill>
            <a:srgbClr val="FFFFFF"/>
          </a:solidFill>
          <a:ln w="1270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95728" y="2286000"/>
            <a:ext cx="2743200" cy="292608"/>
          </a:xfrm>
          <a:prstGeom prst="rect">
            <a:avLst/>
          </a:prstGeom>
          <a:noFill/>
        </p:spPr>
        <p:txBody>
          <a:bodyPr wrap="square" anchor="ctr">
            <a:spAutoFit/>
          </a:bodyPr>
          <a:lstStyle/>
          <a:p>
            <a:pPr algn="l">
              <a:spcBef>
                <a:spcPts val="0"/>
              </a:spcBef>
              <a:spcAft>
                <a:spcPts val="0"/>
              </a:spcAft>
            </a:pPr>
            <a:r>
              <a:rPr sz="1300" b="0">
                <a:solidFill>
                  <a:srgbClr val="2A3138"/>
                </a:solidFill>
                <a:latin typeface="Calibri"/>
                <a:ea typeface="Calibri"/>
                <a:cs typeface="Calibri"/>
              </a:rPr>
              <a:t>REG  APIRIA – 204</a:t>
            </a:r>
          </a:p>
        </p:txBody>
      </p:sp>
      <p:sp>
        <p:nvSpPr>
          <p:cNvPr id="19" name="Rounded Rectangle 18"/>
          <p:cNvSpPr/>
          <p:nvPr/>
        </p:nvSpPr>
        <p:spPr>
          <a:xfrm>
            <a:off x="5358384" y="2286000"/>
            <a:ext cx="4206240" cy="292608"/>
          </a:xfrm>
          <a:prstGeom prst="roundRect">
            <a:avLst>
              <a:gd name="adj" fmla="val 50000"/>
            </a:avLst>
          </a:prstGeom>
          <a:solidFill>
            <a:srgbClr val="FFFFFF"/>
          </a:solidFill>
          <a:ln w="1270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68112" y="2286000"/>
            <a:ext cx="4023360" cy="292608"/>
          </a:xfrm>
          <a:prstGeom prst="rect">
            <a:avLst/>
          </a:prstGeom>
          <a:noFill/>
        </p:spPr>
        <p:txBody>
          <a:bodyPr wrap="square" anchor="ctr">
            <a:spAutoFit/>
          </a:bodyPr>
          <a:lstStyle/>
          <a:p>
            <a:pPr algn="l">
              <a:spcBef>
                <a:spcPts val="0"/>
              </a:spcBef>
              <a:spcAft>
                <a:spcPts val="0"/>
              </a:spcAft>
            </a:pPr>
            <a:r>
              <a:rPr sz="1300" b="0">
                <a:solidFill>
                  <a:srgbClr val="2A3138"/>
                </a:solidFill>
                <a:latin typeface="Calibri"/>
                <a:ea typeface="Calibri"/>
                <a:cs typeface="Calibri"/>
              </a:rPr>
              <a:t>EMAIL  divyasai.bikkasani@gmail.com</a:t>
            </a:r>
          </a:p>
        </p:txBody>
      </p:sp>
      <p:sp>
        <p:nvSpPr>
          <p:cNvPr id="21" name="Rounded Rectangle 20"/>
          <p:cNvSpPr/>
          <p:nvPr/>
        </p:nvSpPr>
        <p:spPr>
          <a:xfrm>
            <a:off x="9710928" y="2286000"/>
            <a:ext cx="2926080" cy="292608"/>
          </a:xfrm>
          <a:prstGeom prst="roundRect">
            <a:avLst>
              <a:gd name="adj" fmla="val 50000"/>
            </a:avLst>
          </a:prstGeom>
          <a:solidFill>
            <a:srgbClr val="FFFFFF"/>
          </a:solidFill>
          <a:ln w="12700">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20656" y="2286000"/>
            <a:ext cx="2743200" cy="292608"/>
          </a:xfrm>
          <a:prstGeom prst="rect">
            <a:avLst/>
          </a:prstGeom>
          <a:noFill/>
        </p:spPr>
        <p:txBody>
          <a:bodyPr wrap="square" anchor="ctr">
            <a:spAutoFit/>
          </a:bodyPr>
          <a:lstStyle/>
          <a:p>
            <a:pPr algn="l">
              <a:spcBef>
                <a:spcPts val="0"/>
              </a:spcBef>
              <a:spcAft>
                <a:spcPts val="0"/>
              </a:spcAft>
            </a:pPr>
            <a:r>
              <a:rPr sz="1300" b="0">
                <a:solidFill>
                  <a:srgbClr val="2A3138"/>
                </a:solidFill>
                <a:latin typeface="Calibri"/>
                <a:ea typeface="Calibri"/>
                <a:cs typeface="Calibri"/>
              </a:rPr>
              <a:t>MOBILE  8331836965</a:t>
            </a:r>
          </a:p>
        </p:txBody>
      </p:sp>
      <p:sp>
        <p:nvSpPr>
          <p:cNvPr id="23" name="Rectangle 22"/>
          <p:cNvSpPr/>
          <p:nvPr/>
        </p:nvSpPr>
        <p:spPr>
          <a:xfrm>
            <a:off x="365760" y="2606040"/>
            <a:ext cx="32709002" cy="19050"/>
          </a:xfrm>
          <a:prstGeom prst="rect">
            <a:avLst/>
          </a:prstGeom>
          <a:solidFill>
            <a:srgbClr val="E6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65760" y="2788920"/>
            <a:ext cx="7583471" cy="3383280"/>
          </a:xfrm>
          <a:prstGeom prst="roundRect">
            <a:avLst>
              <a:gd name="adj" fmla="val 7000"/>
            </a:avLst>
          </a:prstGeom>
          <a:solidFill>
            <a:srgbClr val="F2F7FC"/>
          </a:solidFill>
          <a:ln w="12700">
            <a:solidFill>
              <a:srgbClr val="D5DCE5"/>
            </a:solidFill>
          </a:ln>
          <a:effectLst>
            <a:outerShdw blurRad="45000" dist="32000" dir="2700000" algn="tl" rotWithShape="0">
              <a:prstClr val="black">
                <a:alpha val="16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3008376"/>
            <a:ext cx="82296" cy="256032"/>
          </a:xfrm>
          <a:prstGeom prst="roundRect">
            <a:avLst>
              <a:gd name="adj" fmla="val 50000"/>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2916936"/>
            <a:ext cx="7034831" cy="402336"/>
          </a:xfrm>
          <a:prstGeom prst="rect">
            <a:avLst/>
          </a:prstGeom>
          <a:noFill/>
        </p:spPr>
        <p:txBody>
          <a:bodyPr wrap="square" anchor="ctr">
            <a:spAutoFit/>
          </a:bodyPr>
          <a:lstStyle/>
          <a:p>
            <a:pPr algn="l">
              <a:spcBef>
                <a:spcPts val="0"/>
              </a:spcBef>
              <a:spcAft>
                <a:spcPts val="0"/>
              </a:spcAft>
            </a:pPr>
            <a:r>
              <a:rPr sz="3000" b="1">
                <a:solidFill>
                  <a:srgbClr val="12355B"/>
                </a:solidFill>
                <a:latin typeface="Calibri"/>
                <a:ea typeface="Calibri"/>
                <a:cs typeface="Calibri"/>
              </a:rPr>
              <a:t>Background</a:t>
            </a:r>
          </a:p>
        </p:txBody>
      </p:sp>
      <p:sp>
        <p:nvSpPr>
          <p:cNvPr id="27" name="TextBox 26"/>
          <p:cNvSpPr txBox="1"/>
          <p:nvPr/>
        </p:nvSpPr>
        <p:spPr>
          <a:xfrm>
            <a:off x="585216" y="3374136"/>
            <a:ext cx="7144559" cy="2651760"/>
          </a:xfrm>
          <a:prstGeom prst="rect">
            <a:avLst/>
          </a:prstGeom>
          <a:noFill/>
        </p:spPr>
        <p:txBody>
          <a:bodyPr wrap="square" anchor="t">
            <a:spAutoFit/>
          </a:bodyPr>
          <a:lstStyle/>
          <a:p>
            <a:pPr algn="l">
              <a:spcBef>
                <a:spcPts val="0"/>
              </a:spcBef>
              <a:spcAft>
                <a:spcPts val="0"/>
              </a:spcAft>
            </a:pPr>
            <a:r>
              <a:rPr sz="1700" b="0">
                <a:solidFill>
                  <a:srgbClr val="2A3138"/>
                </a:solidFill>
                <a:latin typeface="Calibri"/>
                <a:ea typeface="Calibri"/>
                <a:cs typeface="Calibri"/>
              </a:rPr>
              <a:t>Von Hippel–Lindau (VHL) disease is a rare autosomal dominant hereditary cancer syndrome caused by mutation of the VHL tumor suppressor gene. It is characterized by multisystem involvement including central nervous system hemangioblastomas, pancreatic cysts, renal cysts and renal cell carcinoma. Early recognition of characteristic imaging findings is crucial for timely diagnosis, surveillance and multidisciplinary management.</a:t>
            </a:r>
          </a:p>
        </p:txBody>
      </p:sp>
      <p:sp>
        <p:nvSpPr>
          <p:cNvPr id="28" name="Rounded Rectangle 27"/>
          <p:cNvSpPr/>
          <p:nvPr/>
        </p:nvSpPr>
        <p:spPr>
          <a:xfrm>
            <a:off x="365760" y="6336792"/>
            <a:ext cx="7583471" cy="2651760"/>
          </a:xfrm>
          <a:prstGeom prst="roundRect">
            <a:avLst>
              <a:gd name="adj" fmla="val 7000"/>
            </a:avLst>
          </a:prstGeom>
          <a:solidFill>
            <a:srgbClr val="F2F7FC"/>
          </a:solidFill>
          <a:ln w="12700">
            <a:solidFill>
              <a:srgbClr val="D5DCE5"/>
            </a:solidFill>
          </a:ln>
          <a:effectLst>
            <a:outerShdw blurRad="45000" dist="32000" dir="2700000" algn="tl" rotWithShape="0">
              <a:prstClr val="black">
                <a:alpha val="16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48640" y="6556248"/>
            <a:ext cx="82296" cy="256032"/>
          </a:xfrm>
          <a:prstGeom prst="roundRect">
            <a:avLst>
              <a:gd name="adj" fmla="val 50000"/>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6464808"/>
            <a:ext cx="7034831" cy="402336"/>
          </a:xfrm>
          <a:prstGeom prst="rect">
            <a:avLst/>
          </a:prstGeom>
          <a:noFill/>
        </p:spPr>
        <p:txBody>
          <a:bodyPr wrap="square" anchor="ctr">
            <a:spAutoFit/>
          </a:bodyPr>
          <a:lstStyle/>
          <a:p>
            <a:pPr algn="l">
              <a:spcBef>
                <a:spcPts val="0"/>
              </a:spcBef>
              <a:spcAft>
                <a:spcPts val="0"/>
              </a:spcAft>
            </a:pPr>
            <a:r>
              <a:rPr sz="3000" b="1">
                <a:solidFill>
                  <a:srgbClr val="12355B"/>
                </a:solidFill>
                <a:latin typeface="Calibri"/>
                <a:ea typeface="Calibri"/>
                <a:cs typeface="Calibri"/>
              </a:rPr>
              <a:t>Aims &amp; Objectives</a:t>
            </a:r>
          </a:p>
        </p:txBody>
      </p:sp>
      <p:sp>
        <p:nvSpPr>
          <p:cNvPr id="31" name="Oval 30"/>
          <p:cNvSpPr/>
          <p:nvPr/>
        </p:nvSpPr>
        <p:spPr>
          <a:xfrm>
            <a:off x="621792" y="7050024"/>
            <a:ext cx="128016" cy="128016"/>
          </a:xfrm>
          <a:prstGeom prst="ellipse">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6958584"/>
            <a:ext cx="6888527" cy="868680"/>
          </a:xfrm>
          <a:prstGeom prst="rect">
            <a:avLst/>
          </a:prstGeom>
          <a:noFill/>
        </p:spPr>
        <p:txBody>
          <a:bodyPr wrap="square" anchor="t">
            <a:spAutoFit/>
          </a:bodyPr>
          <a:lstStyle/>
          <a:p>
            <a:pPr algn="l">
              <a:spcBef>
                <a:spcPts val="0"/>
              </a:spcBef>
              <a:spcAft>
                <a:spcPts val="0"/>
              </a:spcAft>
            </a:pPr>
            <a:r>
              <a:rPr sz="1700" b="0">
                <a:solidFill>
                  <a:srgbClr val="2A3138"/>
                </a:solidFill>
                <a:latin typeface="Calibri"/>
                <a:ea typeface="Calibri"/>
                <a:cs typeface="Calibri"/>
              </a:rPr>
              <a:t>To highlight the pivotal role of multimodality imaging in diagnosing VHL disease.</a:t>
            </a:r>
          </a:p>
        </p:txBody>
      </p:sp>
      <p:sp>
        <p:nvSpPr>
          <p:cNvPr id="33" name="Oval 32"/>
          <p:cNvSpPr/>
          <p:nvPr/>
        </p:nvSpPr>
        <p:spPr>
          <a:xfrm>
            <a:off x="621792" y="7946136"/>
            <a:ext cx="128016" cy="128016"/>
          </a:xfrm>
          <a:prstGeom prst="ellipse">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7854696"/>
            <a:ext cx="6888527" cy="868680"/>
          </a:xfrm>
          <a:prstGeom prst="rect">
            <a:avLst/>
          </a:prstGeom>
          <a:noFill/>
        </p:spPr>
        <p:txBody>
          <a:bodyPr wrap="square" anchor="t">
            <a:spAutoFit/>
          </a:bodyPr>
          <a:lstStyle/>
          <a:p>
            <a:pPr algn="l">
              <a:spcBef>
                <a:spcPts val="0"/>
              </a:spcBef>
              <a:spcAft>
                <a:spcPts val="0"/>
              </a:spcAft>
            </a:pPr>
            <a:r>
              <a:rPr sz="1700" b="0">
                <a:solidFill>
                  <a:srgbClr val="2A3138"/>
                </a:solidFill>
                <a:latin typeface="Calibri"/>
                <a:ea typeface="Calibri"/>
                <a:cs typeface="Calibri"/>
              </a:rPr>
              <a:t>To emphasize recognition of multisystem imaging findings suggestive of hereditary tumour syndromes.</a:t>
            </a:r>
          </a:p>
        </p:txBody>
      </p:sp>
      <p:sp>
        <p:nvSpPr>
          <p:cNvPr id="35" name="Rounded Rectangle 34"/>
          <p:cNvSpPr/>
          <p:nvPr/>
        </p:nvSpPr>
        <p:spPr>
          <a:xfrm>
            <a:off x="365760" y="9153144"/>
            <a:ext cx="7583471" cy="9126626"/>
          </a:xfrm>
          <a:prstGeom prst="roundRect">
            <a:avLst>
              <a:gd name="adj" fmla="val 7000"/>
            </a:avLst>
          </a:prstGeom>
          <a:solidFill>
            <a:srgbClr val="F2F7FC"/>
          </a:solidFill>
          <a:ln w="12700">
            <a:solidFill>
              <a:srgbClr val="D5DCE5"/>
            </a:solidFill>
          </a:ln>
          <a:effectLst>
            <a:outerShdw blurRad="45000" dist="32000" dir="2700000" algn="tl" rotWithShape="0">
              <a:prstClr val="black">
                <a:alpha val="16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548640" y="9372600"/>
            <a:ext cx="82296" cy="256032"/>
          </a:xfrm>
          <a:prstGeom prst="roundRect">
            <a:avLst>
              <a:gd name="adj" fmla="val 50000"/>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9281160"/>
            <a:ext cx="7034831" cy="402336"/>
          </a:xfrm>
          <a:prstGeom prst="rect">
            <a:avLst/>
          </a:prstGeom>
          <a:noFill/>
        </p:spPr>
        <p:txBody>
          <a:bodyPr wrap="square" anchor="ctr">
            <a:spAutoFit/>
          </a:bodyPr>
          <a:lstStyle/>
          <a:p>
            <a:pPr algn="l">
              <a:spcBef>
                <a:spcPts val="0"/>
              </a:spcBef>
              <a:spcAft>
                <a:spcPts val="0"/>
              </a:spcAft>
            </a:pPr>
            <a:r>
              <a:rPr sz="3000" b="1">
                <a:solidFill>
                  <a:srgbClr val="12355B"/>
                </a:solidFill>
                <a:latin typeface="Calibri"/>
                <a:ea typeface="Calibri"/>
                <a:cs typeface="Calibri"/>
              </a:rPr>
              <a:t>Materials &amp; Methods</a:t>
            </a:r>
          </a:p>
        </p:txBody>
      </p:sp>
      <p:sp>
        <p:nvSpPr>
          <p:cNvPr id="38" name="Rectangle 37"/>
          <p:cNvSpPr/>
          <p:nvPr/>
        </p:nvSpPr>
        <p:spPr>
          <a:xfrm>
            <a:off x="749808" y="10177272"/>
            <a:ext cx="31750" cy="1831314"/>
          </a:xfrm>
          <a:prstGeom prst="rect">
            <a:avLst/>
          </a:prstGeom>
          <a:solidFill>
            <a:srgbClr val="C5D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03504" y="9811512"/>
            <a:ext cx="365760" cy="365760"/>
          </a:xfrm>
          <a:prstGeom prst="ellipse">
            <a:avLst/>
          </a:prstGeom>
          <a:solidFill>
            <a:srgbClr val="2D6CDF"/>
          </a:solidFill>
          <a:ln>
            <a:noFill/>
          </a:ln>
          <a:effectLst>
            <a:outerShdw blurRad="28000" dist="18000" dir="2700000" algn="t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3504" y="9811512"/>
            <a:ext cx="365760" cy="365760"/>
          </a:xfrm>
          <a:prstGeom prst="rect">
            <a:avLst/>
          </a:prstGeom>
          <a:noFill/>
        </p:spPr>
        <p:txBody>
          <a:bodyPr wrap="square" anchor="ctr">
            <a:spAutoFit/>
          </a:bodyPr>
          <a:lstStyle/>
          <a:p>
            <a:pPr algn="ctr">
              <a:spcBef>
                <a:spcPts val="0"/>
              </a:spcBef>
              <a:spcAft>
                <a:spcPts val="0"/>
              </a:spcAft>
            </a:pPr>
            <a:r>
              <a:rPr sz="1400" b="1">
                <a:solidFill>
                  <a:srgbClr val="FFFFFF"/>
                </a:solidFill>
                <a:latin typeface="Calibri"/>
                <a:ea typeface="Calibri"/>
                <a:cs typeface="Calibri"/>
              </a:rPr>
              <a:t>1</a:t>
            </a:r>
          </a:p>
        </p:txBody>
      </p:sp>
      <p:sp>
        <p:nvSpPr>
          <p:cNvPr id="41" name="Rounded Rectangle 40"/>
          <p:cNvSpPr/>
          <p:nvPr/>
        </p:nvSpPr>
        <p:spPr>
          <a:xfrm>
            <a:off x="7290863" y="9829800"/>
            <a:ext cx="438912" cy="237744"/>
          </a:xfrm>
          <a:prstGeom prst="roundRect">
            <a:avLst>
              <a:gd name="adj" fmla="val 40000"/>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90863" y="9829800"/>
            <a:ext cx="438912" cy="237744"/>
          </a:xfrm>
          <a:prstGeom prst="rect">
            <a:avLst/>
          </a:prstGeom>
          <a:noFill/>
        </p:spPr>
        <p:txBody>
          <a:bodyPr wrap="square" anchor="ctr">
            <a:spAutoFit/>
          </a:bodyPr>
          <a:lstStyle/>
          <a:p>
            <a:pPr algn="ctr">
              <a:spcBef>
                <a:spcPts val="0"/>
              </a:spcBef>
              <a:spcAft>
                <a:spcPts val="0"/>
              </a:spcAft>
            </a:pPr>
            <a:r>
              <a:rPr sz="1100" b="1">
                <a:solidFill>
                  <a:srgbClr val="2D6CDF"/>
                </a:solidFill>
                <a:latin typeface="Calibri"/>
                <a:ea typeface="Calibri"/>
                <a:cs typeface="Calibri"/>
              </a:rPr>
              <a:t>Hx</a:t>
            </a:r>
          </a:p>
        </p:txBody>
      </p:sp>
      <p:sp>
        <p:nvSpPr>
          <p:cNvPr id="43" name="TextBox 42"/>
          <p:cNvSpPr txBox="1"/>
          <p:nvPr/>
        </p:nvSpPr>
        <p:spPr>
          <a:xfrm>
            <a:off x="1078992" y="9774936"/>
            <a:ext cx="6166151" cy="256032"/>
          </a:xfrm>
          <a:prstGeom prst="rect">
            <a:avLst/>
          </a:prstGeom>
          <a:noFill/>
        </p:spPr>
        <p:txBody>
          <a:bodyPr wrap="square" anchor="t">
            <a:spAutoFit/>
          </a:bodyPr>
          <a:lstStyle/>
          <a:p>
            <a:pPr algn="l">
              <a:spcBef>
                <a:spcPts val="0"/>
              </a:spcBef>
              <a:spcAft>
                <a:spcPts val="0"/>
              </a:spcAft>
            </a:pPr>
            <a:r>
              <a:rPr sz="1600" b="1">
                <a:solidFill>
                  <a:srgbClr val="12355B"/>
                </a:solidFill>
                <a:latin typeface="Calibri"/>
                <a:ea typeface="Calibri"/>
                <a:cs typeface="Calibri"/>
              </a:rPr>
              <a:t>Clinical Evaluation</a:t>
            </a:r>
          </a:p>
        </p:txBody>
      </p:sp>
      <p:sp>
        <p:nvSpPr>
          <p:cNvPr id="44" name="TextBox 43"/>
          <p:cNvSpPr txBox="1"/>
          <p:nvPr/>
        </p:nvSpPr>
        <p:spPr>
          <a:xfrm>
            <a:off x="1078992" y="10030968"/>
            <a:ext cx="6669071" cy="640080"/>
          </a:xfrm>
          <a:prstGeom prst="rect">
            <a:avLst/>
          </a:prstGeom>
          <a:noFill/>
        </p:spPr>
        <p:txBody>
          <a:bodyPr wrap="square" anchor="t">
            <a:spAutoFit/>
          </a:bodyPr>
          <a:lstStyle/>
          <a:p>
            <a:pPr algn="l">
              <a:spcBef>
                <a:spcPts val="0"/>
              </a:spcBef>
              <a:spcAft>
                <a:spcPts val="0"/>
              </a:spcAft>
            </a:pPr>
            <a:r>
              <a:rPr sz="1400" b="0">
                <a:solidFill>
                  <a:srgbClr val="5B6573"/>
                </a:solidFill>
                <a:latin typeface="Calibri"/>
                <a:ea typeface="Calibri"/>
                <a:cs typeface="Calibri"/>
              </a:rPr>
              <a:t>A 39-year-old female with persistent band-like abdominal pain and progressive neurological symptoms was evaluated.</a:t>
            </a:r>
          </a:p>
        </p:txBody>
      </p:sp>
      <p:sp>
        <p:nvSpPr>
          <p:cNvPr id="45" name="Rectangle 44"/>
          <p:cNvSpPr/>
          <p:nvPr/>
        </p:nvSpPr>
        <p:spPr>
          <a:xfrm>
            <a:off x="749808" y="12264618"/>
            <a:ext cx="31750" cy="1831314"/>
          </a:xfrm>
          <a:prstGeom prst="rect">
            <a:avLst/>
          </a:prstGeom>
          <a:solidFill>
            <a:srgbClr val="C5D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03504" y="11898858"/>
            <a:ext cx="365760" cy="365760"/>
          </a:xfrm>
          <a:prstGeom prst="ellipse">
            <a:avLst/>
          </a:prstGeom>
          <a:solidFill>
            <a:srgbClr val="00A6ED"/>
          </a:solidFill>
          <a:ln>
            <a:noFill/>
          </a:ln>
          <a:effectLst>
            <a:outerShdw blurRad="28000" dist="18000" dir="2700000" algn="t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3504" y="11898858"/>
            <a:ext cx="365760" cy="365760"/>
          </a:xfrm>
          <a:prstGeom prst="rect">
            <a:avLst/>
          </a:prstGeom>
          <a:noFill/>
        </p:spPr>
        <p:txBody>
          <a:bodyPr wrap="square" anchor="ctr">
            <a:spAutoFit/>
          </a:bodyPr>
          <a:lstStyle/>
          <a:p>
            <a:pPr algn="ctr">
              <a:spcBef>
                <a:spcPts val="0"/>
              </a:spcBef>
              <a:spcAft>
                <a:spcPts val="0"/>
              </a:spcAft>
            </a:pPr>
            <a:r>
              <a:rPr sz="1400" b="1">
                <a:solidFill>
                  <a:srgbClr val="FFFFFF"/>
                </a:solidFill>
                <a:latin typeface="Calibri"/>
                <a:ea typeface="Calibri"/>
                <a:cs typeface="Calibri"/>
              </a:rPr>
              <a:t>2</a:t>
            </a:r>
          </a:p>
        </p:txBody>
      </p:sp>
      <p:sp>
        <p:nvSpPr>
          <p:cNvPr id="48" name="Rounded Rectangle 47"/>
          <p:cNvSpPr/>
          <p:nvPr/>
        </p:nvSpPr>
        <p:spPr>
          <a:xfrm>
            <a:off x="7290863" y="11917146"/>
            <a:ext cx="438912" cy="237744"/>
          </a:xfrm>
          <a:prstGeom prst="roundRect">
            <a:avLst>
              <a:gd name="adj" fmla="val 40000"/>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90863" y="11917146"/>
            <a:ext cx="438912" cy="237744"/>
          </a:xfrm>
          <a:prstGeom prst="rect">
            <a:avLst/>
          </a:prstGeom>
          <a:noFill/>
        </p:spPr>
        <p:txBody>
          <a:bodyPr wrap="square" anchor="ctr">
            <a:spAutoFit/>
          </a:bodyPr>
          <a:lstStyle/>
          <a:p>
            <a:pPr algn="ctr">
              <a:spcBef>
                <a:spcPts val="0"/>
              </a:spcBef>
              <a:spcAft>
                <a:spcPts val="0"/>
              </a:spcAft>
            </a:pPr>
            <a:r>
              <a:rPr sz="1100" b="1">
                <a:solidFill>
                  <a:srgbClr val="2D6CDF"/>
                </a:solidFill>
                <a:latin typeface="Calibri"/>
                <a:ea typeface="Calibri"/>
                <a:cs typeface="Calibri"/>
              </a:rPr>
              <a:t>CT</a:t>
            </a:r>
          </a:p>
        </p:txBody>
      </p:sp>
      <p:sp>
        <p:nvSpPr>
          <p:cNvPr id="50" name="TextBox 49"/>
          <p:cNvSpPr txBox="1"/>
          <p:nvPr/>
        </p:nvSpPr>
        <p:spPr>
          <a:xfrm>
            <a:off x="1078992" y="11862282"/>
            <a:ext cx="6166151" cy="256032"/>
          </a:xfrm>
          <a:prstGeom prst="rect">
            <a:avLst/>
          </a:prstGeom>
          <a:noFill/>
        </p:spPr>
        <p:txBody>
          <a:bodyPr wrap="square" anchor="t">
            <a:spAutoFit/>
          </a:bodyPr>
          <a:lstStyle/>
          <a:p>
            <a:pPr algn="l">
              <a:spcBef>
                <a:spcPts val="0"/>
              </a:spcBef>
              <a:spcAft>
                <a:spcPts val="0"/>
              </a:spcAft>
            </a:pPr>
            <a:r>
              <a:rPr sz="1600" b="1">
                <a:solidFill>
                  <a:srgbClr val="12355B"/>
                </a:solidFill>
                <a:latin typeface="Calibri"/>
                <a:ea typeface="Calibri"/>
                <a:cs typeface="Calibri"/>
              </a:rPr>
              <a:t>CT Abdomen</a:t>
            </a:r>
          </a:p>
        </p:txBody>
      </p:sp>
      <p:sp>
        <p:nvSpPr>
          <p:cNvPr id="51" name="TextBox 50"/>
          <p:cNvSpPr txBox="1"/>
          <p:nvPr/>
        </p:nvSpPr>
        <p:spPr>
          <a:xfrm>
            <a:off x="1078992" y="12118314"/>
            <a:ext cx="6669071" cy="640080"/>
          </a:xfrm>
          <a:prstGeom prst="rect">
            <a:avLst/>
          </a:prstGeom>
          <a:noFill/>
        </p:spPr>
        <p:txBody>
          <a:bodyPr wrap="square" anchor="t">
            <a:spAutoFit/>
          </a:bodyPr>
          <a:lstStyle/>
          <a:p>
            <a:pPr algn="l">
              <a:spcBef>
                <a:spcPts val="0"/>
              </a:spcBef>
              <a:spcAft>
                <a:spcPts val="0"/>
              </a:spcAft>
            </a:pPr>
            <a:r>
              <a:rPr sz="1400" b="0">
                <a:solidFill>
                  <a:srgbClr val="5B6573"/>
                </a:solidFill>
                <a:latin typeface="Calibri"/>
                <a:ea typeface="Calibri"/>
                <a:cs typeface="Calibri"/>
              </a:rPr>
              <a:t>Contrast-enhanced CT abdomen findings were reviewed.</a:t>
            </a:r>
          </a:p>
        </p:txBody>
      </p:sp>
      <p:sp>
        <p:nvSpPr>
          <p:cNvPr id="52" name="Rectangle 51"/>
          <p:cNvSpPr/>
          <p:nvPr/>
        </p:nvSpPr>
        <p:spPr>
          <a:xfrm>
            <a:off x="749808" y="14351965"/>
            <a:ext cx="31750" cy="1831314"/>
          </a:xfrm>
          <a:prstGeom prst="rect">
            <a:avLst/>
          </a:prstGeom>
          <a:solidFill>
            <a:srgbClr val="C5D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03504" y="13986205"/>
            <a:ext cx="365760" cy="365760"/>
          </a:xfrm>
          <a:prstGeom prst="ellipse">
            <a:avLst/>
          </a:prstGeom>
          <a:solidFill>
            <a:srgbClr val="2D6CDF"/>
          </a:solidFill>
          <a:ln>
            <a:noFill/>
          </a:ln>
          <a:effectLst>
            <a:outerShdw blurRad="28000" dist="18000" dir="2700000" algn="t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03504" y="13986205"/>
            <a:ext cx="365760" cy="365760"/>
          </a:xfrm>
          <a:prstGeom prst="rect">
            <a:avLst/>
          </a:prstGeom>
          <a:noFill/>
        </p:spPr>
        <p:txBody>
          <a:bodyPr wrap="square" anchor="ctr">
            <a:spAutoFit/>
          </a:bodyPr>
          <a:lstStyle/>
          <a:p>
            <a:pPr algn="ctr">
              <a:spcBef>
                <a:spcPts val="0"/>
              </a:spcBef>
              <a:spcAft>
                <a:spcPts val="0"/>
              </a:spcAft>
            </a:pPr>
            <a:r>
              <a:rPr sz="1400" b="1">
                <a:solidFill>
                  <a:srgbClr val="FFFFFF"/>
                </a:solidFill>
                <a:latin typeface="Calibri"/>
                <a:ea typeface="Calibri"/>
                <a:cs typeface="Calibri"/>
              </a:rPr>
              <a:t>3</a:t>
            </a:r>
          </a:p>
        </p:txBody>
      </p:sp>
      <p:sp>
        <p:nvSpPr>
          <p:cNvPr id="55" name="Rounded Rectangle 54"/>
          <p:cNvSpPr/>
          <p:nvPr/>
        </p:nvSpPr>
        <p:spPr>
          <a:xfrm>
            <a:off x="7290863" y="14004493"/>
            <a:ext cx="438912" cy="237744"/>
          </a:xfrm>
          <a:prstGeom prst="roundRect">
            <a:avLst>
              <a:gd name="adj" fmla="val 40000"/>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0863" y="14004493"/>
            <a:ext cx="438912" cy="237744"/>
          </a:xfrm>
          <a:prstGeom prst="rect">
            <a:avLst/>
          </a:prstGeom>
          <a:noFill/>
        </p:spPr>
        <p:txBody>
          <a:bodyPr wrap="square" anchor="ctr">
            <a:spAutoFit/>
          </a:bodyPr>
          <a:lstStyle/>
          <a:p>
            <a:pPr algn="ctr">
              <a:spcBef>
                <a:spcPts val="0"/>
              </a:spcBef>
              <a:spcAft>
                <a:spcPts val="0"/>
              </a:spcAft>
            </a:pPr>
            <a:r>
              <a:rPr sz="1100" b="1">
                <a:solidFill>
                  <a:srgbClr val="2D6CDF"/>
                </a:solidFill>
                <a:latin typeface="Calibri"/>
                <a:ea typeface="Calibri"/>
                <a:cs typeface="Calibri"/>
              </a:rPr>
              <a:t>MRI</a:t>
            </a:r>
          </a:p>
        </p:txBody>
      </p:sp>
      <p:sp>
        <p:nvSpPr>
          <p:cNvPr id="57" name="TextBox 56"/>
          <p:cNvSpPr txBox="1"/>
          <p:nvPr/>
        </p:nvSpPr>
        <p:spPr>
          <a:xfrm>
            <a:off x="1078992" y="13949629"/>
            <a:ext cx="6166151" cy="256032"/>
          </a:xfrm>
          <a:prstGeom prst="rect">
            <a:avLst/>
          </a:prstGeom>
          <a:noFill/>
        </p:spPr>
        <p:txBody>
          <a:bodyPr wrap="square" anchor="t">
            <a:spAutoFit/>
          </a:bodyPr>
          <a:lstStyle/>
          <a:p>
            <a:pPr algn="l">
              <a:spcBef>
                <a:spcPts val="0"/>
              </a:spcBef>
              <a:spcAft>
                <a:spcPts val="0"/>
              </a:spcAft>
            </a:pPr>
            <a:r>
              <a:rPr sz="1600" b="1">
                <a:solidFill>
                  <a:srgbClr val="12355B"/>
                </a:solidFill>
                <a:latin typeface="Calibri"/>
                <a:ea typeface="Calibri"/>
                <a:cs typeface="Calibri"/>
              </a:rPr>
              <a:t>MRI Spine</a:t>
            </a:r>
          </a:p>
        </p:txBody>
      </p:sp>
      <p:sp>
        <p:nvSpPr>
          <p:cNvPr id="58" name="TextBox 57"/>
          <p:cNvSpPr txBox="1"/>
          <p:nvPr/>
        </p:nvSpPr>
        <p:spPr>
          <a:xfrm>
            <a:off x="1078992" y="14205661"/>
            <a:ext cx="6669071" cy="640080"/>
          </a:xfrm>
          <a:prstGeom prst="rect">
            <a:avLst/>
          </a:prstGeom>
          <a:noFill/>
        </p:spPr>
        <p:txBody>
          <a:bodyPr wrap="square" anchor="t">
            <a:spAutoFit/>
          </a:bodyPr>
          <a:lstStyle/>
          <a:p>
            <a:pPr algn="l">
              <a:spcBef>
                <a:spcPts val="0"/>
              </a:spcBef>
              <a:spcAft>
                <a:spcPts val="0"/>
              </a:spcAft>
            </a:pPr>
            <a:r>
              <a:rPr sz="1400" b="0">
                <a:solidFill>
                  <a:srgbClr val="5B6573"/>
                </a:solidFill>
                <a:latin typeface="Calibri"/>
                <a:ea typeface="Calibri"/>
                <a:cs typeface="Calibri"/>
              </a:rPr>
              <a:t>MRI spine findings were reviewed for intramedullary pathology.</a:t>
            </a:r>
          </a:p>
        </p:txBody>
      </p:sp>
      <p:sp>
        <p:nvSpPr>
          <p:cNvPr id="59" name="Oval 58"/>
          <p:cNvSpPr/>
          <p:nvPr/>
        </p:nvSpPr>
        <p:spPr>
          <a:xfrm>
            <a:off x="603504" y="16073551"/>
            <a:ext cx="365760" cy="365760"/>
          </a:xfrm>
          <a:prstGeom prst="ellipse">
            <a:avLst/>
          </a:prstGeom>
          <a:solidFill>
            <a:srgbClr val="00A6ED"/>
          </a:solidFill>
          <a:ln>
            <a:noFill/>
          </a:ln>
          <a:effectLst>
            <a:outerShdw blurRad="28000" dist="18000" dir="2700000" algn="tl" rotWithShape="0">
              <a:prstClr val="black">
                <a:alpha val="1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03504" y="16073551"/>
            <a:ext cx="365760" cy="365760"/>
          </a:xfrm>
          <a:prstGeom prst="rect">
            <a:avLst/>
          </a:prstGeom>
          <a:noFill/>
        </p:spPr>
        <p:txBody>
          <a:bodyPr wrap="square" anchor="ctr">
            <a:spAutoFit/>
          </a:bodyPr>
          <a:lstStyle/>
          <a:p>
            <a:pPr algn="ctr">
              <a:spcBef>
                <a:spcPts val="0"/>
              </a:spcBef>
              <a:spcAft>
                <a:spcPts val="0"/>
              </a:spcAft>
            </a:pPr>
            <a:r>
              <a:rPr sz="1400" b="1">
                <a:solidFill>
                  <a:srgbClr val="FFFFFF"/>
                </a:solidFill>
                <a:latin typeface="Calibri"/>
                <a:ea typeface="Calibri"/>
                <a:cs typeface="Calibri"/>
              </a:rPr>
              <a:t>4</a:t>
            </a:r>
          </a:p>
        </p:txBody>
      </p:sp>
      <p:sp>
        <p:nvSpPr>
          <p:cNvPr id="61" name="Rounded Rectangle 60"/>
          <p:cNvSpPr/>
          <p:nvPr/>
        </p:nvSpPr>
        <p:spPr>
          <a:xfrm>
            <a:off x="7290863" y="16091839"/>
            <a:ext cx="438912" cy="237744"/>
          </a:xfrm>
          <a:prstGeom prst="roundRect">
            <a:avLst>
              <a:gd name="adj" fmla="val 40000"/>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0863" y="16091839"/>
            <a:ext cx="438912" cy="237744"/>
          </a:xfrm>
          <a:prstGeom prst="rect">
            <a:avLst/>
          </a:prstGeom>
          <a:noFill/>
        </p:spPr>
        <p:txBody>
          <a:bodyPr wrap="square" anchor="ctr">
            <a:spAutoFit/>
          </a:bodyPr>
          <a:lstStyle/>
          <a:p>
            <a:pPr algn="ctr">
              <a:spcBef>
                <a:spcPts val="0"/>
              </a:spcBef>
              <a:spcAft>
                <a:spcPts val="0"/>
              </a:spcAft>
            </a:pPr>
            <a:r>
              <a:rPr sz="1100" b="1">
                <a:solidFill>
                  <a:srgbClr val="2D6CDF"/>
                </a:solidFill>
                <a:latin typeface="Calibri"/>
                <a:ea typeface="Calibri"/>
                <a:cs typeface="Calibri"/>
              </a:rPr>
              <a:t>Dx</a:t>
            </a:r>
          </a:p>
        </p:txBody>
      </p:sp>
      <p:sp>
        <p:nvSpPr>
          <p:cNvPr id="63" name="TextBox 62"/>
          <p:cNvSpPr txBox="1"/>
          <p:nvPr/>
        </p:nvSpPr>
        <p:spPr>
          <a:xfrm>
            <a:off x="1078992" y="16036975"/>
            <a:ext cx="6166151" cy="256032"/>
          </a:xfrm>
          <a:prstGeom prst="rect">
            <a:avLst/>
          </a:prstGeom>
          <a:noFill/>
        </p:spPr>
        <p:txBody>
          <a:bodyPr wrap="square" anchor="t">
            <a:spAutoFit/>
          </a:bodyPr>
          <a:lstStyle/>
          <a:p>
            <a:pPr algn="l">
              <a:spcBef>
                <a:spcPts val="0"/>
              </a:spcBef>
              <a:spcAft>
                <a:spcPts val="0"/>
              </a:spcAft>
            </a:pPr>
            <a:r>
              <a:rPr sz="1600" b="1">
                <a:solidFill>
                  <a:srgbClr val="12355B"/>
                </a:solidFill>
                <a:latin typeface="Calibri"/>
                <a:ea typeface="Calibri"/>
                <a:cs typeface="Calibri"/>
              </a:rPr>
              <a:t>Clinicoradiological Correlation</a:t>
            </a:r>
          </a:p>
        </p:txBody>
      </p:sp>
      <p:sp>
        <p:nvSpPr>
          <p:cNvPr id="64" name="TextBox 63"/>
          <p:cNvSpPr txBox="1"/>
          <p:nvPr/>
        </p:nvSpPr>
        <p:spPr>
          <a:xfrm>
            <a:off x="1078992" y="16293007"/>
            <a:ext cx="6669071" cy="640080"/>
          </a:xfrm>
          <a:prstGeom prst="rect">
            <a:avLst/>
          </a:prstGeom>
          <a:noFill/>
        </p:spPr>
        <p:txBody>
          <a:bodyPr wrap="square" anchor="t">
            <a:spAutoFit/>
          </a:bodyPr>
          <a:lstStyle/>
          <a:p>
            <a:pPr algn="l">
              <a:spcBef>
                <a:spcPts val="0"/>
              </a:spcBef>
              <a:spcAft>
                <a:spcPts val="0"/>
              </a:spcAft>
            </a:pPr>
            <a:r>
              <a:rPr sz="1400" b="0">
                <a:solidFill>
                  <a:srgbClr val="5B6573"/>
                </a:solidFill>
                <a:latin typeface="Calibri"/>
                <a:ea typeface="Calibri"/>
                <a:cs typeface="Calibri"/>
              </a:rPr>
              <a:t>Findings correlated with clinicoradiological features and relevant literature.</a:t>
            </a:r>
          </a:p>
        </p:txBody>
      </p:sp>
      <p:sp>
        <p:nvSpPr>
          <p:cNvPr id="65" name="Rounded Rectangle 64"/>
          <p:cNvSpPr/>
          <p:nvPr/>
        </p:nvSpPr>
        <p:spPr>
          <a:xfrm>
            <a:off x="8168687" y="2788920"/>
            <a:ext cx="15328292" cy="15490850"/>
          </a:xfrm>
          <a:prstGeom prst="roundRect">
            <a:avLst>
              <a:gd name="adj" fmla="val 7000"/>
            </a:avLst>
          </a:prstGeom>
          <a:solidFill>
            <a:srgbClr val="F9FCFE"/>
          </a:solidFill>
          <a:ln w="12700">
            <a:solidFill>
              <a:srgbClr val="D5DCE5"/>
            </a:solidFill>
          </a:ln>
          <a:effectLst>
            <a:outerShdw blurRad="45000" dist="32000" dir="2700000" algn="tl" rotWithShape="0">
              <a:prstClr val="black">
                <a:alpha val="16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8369855" y="3008376"/>
            <a:ext cx="82296" cy="256032"/>
          </a:xfrm>
          <a:prstGeom prst="roundRect">
            <a:avLst>
              <a:gd name="adj" fmla="val 50000"/>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52735" y="2916936"/>
            <a:ext cx="14743076" cy="402336"/>
          </a:xfrm>
          <a:prstGeom prst="rect">
            <a:avLst/>
          </a:prstGeom>
          <a:noFill/>
        </p:spPr>
        <p:txBody>
          <a:bodyPr wrap="square" anchor="ctr">
            <a:spAutoFit/>
          </a:bodyPr>
          <a:lstStyle/>
          <a:p>
            <a:pPr algn="l">
              <a:spcBef>
                <a:spcPts val="0"/>
              </a:spcBef>
              <a:spcAft>
                <a:spcPts val="0"/>
              </a:spcAft>
            </a:pPr>
            <a:r>
              <a:rPr sz="3000" b="1">
                <a:solidFill>
                  <a:srgbClr val="12355B"/>
                </a:solidFill>
                <a:latin typeface="Calibri"/>
                <a:ea typeface="Calibri"/>
                <a:cs typeface="Calibri"/>
              </a:rPr>
              <a:t>Results &amp; Discussion</a:t>
            </a:r>
          </a:p>
        </p:txBody>
      </p:sp>
      <p:sp>
        <p:nvSpPr>
          <p:cNvPr id="68" name="Rounded Rectangle 67"/>
          <p:cNvSpPr/>
          <p:nvPr/>
        </p:nvSpPr>
        <p:spPr>
          <a:xfrm>
            <a:off x="8369855" y="3355848"/>
            <a:ext cx="14925956" cy="713232"/>
          </a:xfrm>
          <a:prstGeom prst="roundRect">
            <a:avLst>
              <a:gd name="adj" fmla="val 10000"/>
            </a:avLst>
          </a:prstGeom>
          <a:solidFill>
            <a:srgbClr val="E9F6FD"/>
          </a:solidFill>
          <a:ln w="15875">
            <a:solidFill>
              <a:srgbClr val="00A6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16159" y="3429000"/>
            <a:ext cx="14669924" cy="566928"/>
          </a:xfrm>
          <a:prstGeom prst="rect">
            <a:avLst/>
          </a:prstGeom>
          <a:noFill/>
        </p:spPr>
        <p:txBody>
          <a:bodyPr wrap="square" anchor="ctr">
            <a:spAutoFit/>
          </a:bodyPr>
          <a:lstStyle/>
          <a:p>
            <a:pPr algn="l">
              <a:spcBef>
                <a:spcPts val="0"/>
              </a:spcBef>
              <a:spcAft>
                <a:spcPts val="0"/>
              </a:spcAft>
            </a:pPr>
            <a:r>
              <a:rPr sz="1600" b="1">
                <a:solidFill>
                  <a:srgbClr val="12355B"/>
                </a:solidFill>
                <a:latin typeface="Calibri"/>
                <a:ea typeface="Calibri"/>
                <a:cs typeface="Calibri"/>
              </a:rPr>
              <a:t>Integration of multisystem imaging findings strongly suggested VHL disease, enabling multidisciplinary management, surveillance and genetic counselling.</a:t>
            </a:r>
          </a:p>
        </p:txBody>
      </p:sp>
      <p:sp>
        <p:nvSpPr>
          <p:cNvPr id="70" name="Rounded Rectangle 69"/>
          <p:cNvSpPr/>
          <p:nvPr/>
        </p:nvSpPr>
        <p:spPr>
          <a:xfrm>
            <a:off x="8369855" y="4215384"/>
            <a:ext cx="7344106" cy="4554016"/>
          </a:xfrm>
          <a:prstGeom prst="roundRect">
            <a:avLst>
              <a:gd name="adj" fmla="val 6000"/>
            </a:avLst>
          </a:prstGeom>
          <a:solidFill>
            <a:srgbClr val="FFFFFF"/>
          </a:solidFill>
          <a:ln w="12700">
            <a:solidFill>
              <a:srgbClr val="D5DCE5"/>
            </a:solidFill>
          </a:ln>
          <a:effectLst>
            <a:outerShdw blurRad="32000" dist="20000" dir="2700000" algn="tl"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8461295" y="4306824"/>
            <a:ext cx="7161226" cy="2277008"/>
          </a:xfrm>
          <a:prstGeom prst="roundRect">
            <a:avLst>
              <a:gd name="adj" fmla="val 5000"/>
            </a:avLst>
          </a:prstGeom>
          <a:solidFill>
            <a:srgbClr val="E6EFF6"/>
          </a:solidFill>
          <a:ln w="12700">
            <a:solidFill>
              <a:srgbClr val="C2D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8534447" y="4379976"/>
            <a:ext cx="2240280" cy="274320"/>
          </a:xfrm>
          <a:prstGeom prst="roundRect">
            <a:avLst>
              <a:gd name="adj" fmla="val 40000"/>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534447" y="4379976"/>
            <a:ext cx="224028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CT Abdomen</a:t>
            </a:r>
          </a:p>
        </p:txBody>
      </p:sp>
      <p:sp>
        <p:nvSpPr>
          <p:cNvPr id="74" name="TextBox 73"/>
          <p:cNvSpPr txBox="1"/>
          <p:nvPr/>
        </p:nvSpPr>
        <p:spPr>
          <a:xfrm>
            <a:off x="8461295" y="5317312"/>
            <a:ext cx="7161226" cy="329184"/>
          </a:xfrm>
          <a:prstGeom prst="rect">
            <a:avLst/>
          </a:prstGeom>
          <a:noFill/>
        </p:spPr>
        <p:txBody>
          <a:bodyPr wrap="square" anchor="ctr">
            <a:spAutoFit/>
          </a:bodyPr>
          <a:lstStyle/>
          <a:p>
            <a:pPr algn="ctr">
              <a:spcBef>
                <a:spcPts val="0"/>
              </a:spcBef>
              <a:spcAft>
                <a:spcPts val="0"/>
              </a:spcAft>
            </a:pPr>
            <a:r>
              <a:rPr sz="1300" b="0">
                <a:solidFill>
                  <a:srgbClr val="8FA8BE"/>
                </a:solidFill>
                <a:latin typeface="Calibri"/>
                <a:ea typeface="Calibri"/>
                <a:cs typeface="Calibri"/>
              </a:rPr>
              <a:t>Insert Radiology Image</a:t>
            </a:r>
          </a:p>
        </p:txBody>
      </p:sp>
      <p:sp>
        <p:nvSpPr>
          <p:cNvPr id="75" name="TextBox 74"/>
          <p:cNvSpPr txBox="1"/>
          <p:nvPr/>
        </p:nvSpPr>
        <p:spPr>
          <a:xfrm>
            <a:off x="8497871" y="6656984"/>
            <a:ext cx="7088074" cy="713232"/>
          </a:xfrm>
          <a:prstGeom prst="rect">
            <a:avLst/>
          </a:prstGeom>
          <a:noFill/>
        </p:spPr>
        <p:txBody>
          <a:bodyPr wrap="square" anchor="t">
            <a:spAutoFit/>
          </a:bodyPr>
          <a:lstStyle/>
          <a:p>
            <a:pPr algn="l">
              <a:spcBef>
                <a:spcPts val="0"/>
              </a:spcBef>
              <a:spcAft>
                <a:spcPts val="0"/>
              </a:spcAft>
            </a:pPr>
            <a:r>
              <a:rPr sz="1300" b="0">
                <a:solidFill>
                  <a:srgbClr val="2A3138"/>
                </a:solidFill>
                <a:latin typeface="Calibri"/>
                <a:ea typeface="Calibri"/>
                <a:cs typeface="Calibri"/>
              </a:rPr>
              <a:t>Multiple pancreatic cysts and bilateral renal cortical cysts on contrast-enhanced CT abdomen.</a:t>
            </a:r>
          </a:p>
        </p:txBody>
      </p:sp>
      <p:sp>
        <p:nvSpPr>
          <p:cNvPr id="76" name="Rounded Rectangle 75"/>
          <p:cNvSpPr/>
          <p:nvPr/>
        </p:nvSpPr>
        <p:spPr>
          <a:xfrm>
            <a:off x="8479583" y="8403640"/>
            <a:ext cx="7124650" cy="274320"/>
          </a:xfrm>
          <a:prstGeom prst="roundRect">
            <a:avLst>
              <a:gd name="adj" fmla="val 35000"/>
            </a:avLst>
          </a:prstGeom>
          <a:solidFill>
            <a:srgbClr val="EE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479583" y="8403640"/>
            <a:ext cx="54864" cy="274320"/>
          </a:xfrm>
          <a:prstGeom prst="rect">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607599" y="8403640"/>
            <a:ext cx="6960058" cy="274320"/>
          </a:xfrm>
          <a:prstGeom prst="rect">
            <a:avLst/>
          </a:prstGeom>
          <a:noFill/>
        </p:spPr>
        <p:txBody>
          <a:bodyPr wrap="square" anchor="ctr">
            <a:spAutoFit/>
          </a:bodyPr>
          <a:lstStyle/>
          <a:p>
            <a:pPr algn="l">
              <a:spcBef>
                <a:spcPts val="0"/>
              </a:spcBef>
              <a:spcAft>
                <a:spcPts val="0"/>
              </a:spcAft>
            </a:pPr>
            <a:r>
              <a:rPr sz="1200" b="1">
                <a:solidFill>
                  <a:srgbClr val="12355B"/>
                </a:solidFill>
                <a:latin typeface="Calibri"/>
                <a:ea typeface="Calibri"/>
                <a:cs typeface="Calibri"/>
              </a:rPr>
              <a:t>Multisystem visceral clue</a:t>
            </a:r>
          </a:p>
        </p:txBody>
      </p:sp>
      <p:sp>
        <p:nvSpPr>
          <p:cNvPr id="79" name="Rounded Rectangle 78"/>
          <p:cNvSpPr/>
          <p:nvPr/>
        </p:nvSpPr>
        <p:spPr>
          <a:xfrm>
            <a:off x="15878553" y="4215384"/>
            <a:ext cx="7344106" cy="4554016"/>
          </a:xfrm>
          <a:prstGeom prst="roundRect">
            <a:avLst>
              <a:gd name="adj" fmla="val 6000"/>
            </a:avLst>
          </a:prstGeom>
          <a:solidFill>
            <a:srgbClr val="FFFFFF"/>
          </a:solidFill>
          <a:ln w="12700">
            <a:solidFill>
              <a:srgbClr val="D5DCE5"/>
            </a:solidFill>
          </a:ln>
          <a:effectLst>
            <a:outerShdw blurRad="32000" dist="20000" dir="2700000" algn="tl"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15969993" y="4306824"/>
            <a:ext cx="7161226" cy="2277008"/>
          </a:xfrm>
          <a:prstGeom prst="roundRect">
            <a:avLst>
              <a:gd name="adj" fmla="val 5000"/>
            </a:avLst>
          </a:prstGeom>
          <a:solidFill>
            <a:srgbClr val="E6EFF6"/>
          </a:solidFill>
          <a:ln w="12700">
            <a:solidFill>
              <a:srgbClr val="C2D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16043145" y="4379976"/>
            <a:ext cx="2240280" cy="274320"/>
          </a:xfrm>
          <a:prstGeom prst="roundRect">
            <a:avLst>
              <a:gd name="adj" fmla="val 40000"/>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6043145" y="4379976"/>
            <a:ext cx="224028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MRI Cervical Spine</a:t>
            </a:r>
          </a:p>
        </p:txBody>
      </p:sp>
      <p:sp>
        <p:nvSpPr>
          <p:cNvPr id="83" name="TextBox 82"/>
          <p:cNvSpPr txBox="1"/>
          <p:nvPr/>
        </p:nvSpPr>
        <p:spPr>
          <a:xfrm>
            <a:off x="15969993" y="5317312"/>
            <a:ext cx="7161226" cy="329184"/>
          </a:xfrm>
          <a:prstGeom prst="rect">
            <a:avLst/>
          </a:prstGeom>
          <a:noFill/>
        </p:spPr>
        <p:txBody>
          <a:bodyPr wrap="square" anchor="ctr">
            <a:spAutoFit/>
          </a:bodyPr>
          <a:lstStyle/>
          <a:p>
            <a:pPr algn="ctr">
              <a:spcBef>
                <a:spcPts val="0"/>
              </a:spcBef>
              <a:spcAft>
                <a:spcPts val="0"/>
              </a:spcAft>
            </a:pPr>
            <a:r>
              <a:rPr sz="1300" b="0">
                <a:solidFill>
                  <a:srgbClr val="8FA8BE"/>
                </a:solidFill>
                <a:latin typeface="Calibri"/>
                <a:ea typeface="Calibri"/>
                <a:cs typeface="Calibri"/>
              </a:rPr>
              <a:t>Insert Radiology Image</a:t>
            </a:r>
          </a:p>
        </p:txBody>
      </p:sp>
      <p:sp>
        <p:nvSpPr>
          <p:cNvPr id="84" name="TextBox 83"/>
          <p:cNvSpPr txBox="1"/>
          <p:nvPr/>
        </p:nvSpPr>
        <p:spPr>
          <a:xfrm>
            <a:off x="16006569" y="6656984"/>
            <a:ext cx="7088074" cy="713232"/>
          </a:xfrm>
          <a:prstGeom prst="rect">
            <a:avLst/>
          </a:prstGeom>
          <a:noFill/>
        </p:spPr>
        <p:txBody>
          <a:bodyPr wrap="square" anchor="t">
            <a:spAutoFit/>
          </a:bodyPr>
          <a:lstStyle/>
          <a:p>
            <a:pPr algn="l">
              <a:spcBef>
                <a:spcPts val="0"/>
              </a:spcBef>
              <a:spcAft>
                <a:spcPts val="0"/>
              </a:spcAft>
            </a:pPr>
            <a:r>
              <a:rPr sz="1300" b="0">
                <a:solidFill>
                  <a:srgbClr val="2A3138"/>
                </a:solidFill>
                <a:latin typeface="Calibri"/>
                <a:ea typeface="Calibri"/>
                <a:cs typeface="Calibri"/>
              </a:rPr>
              <a:t>Long-segment intramedullary cystic lesion (C2–D2) with enhancing mural nodule.</a:t>
            </a:r>
          </a:p>
        </p:txBody>
      </p:sp>
      <p:sp>
        <p:nvSpPr>
          <p:cNvPr id="85" name="Rounded Rectangle 84"/>
          <p:cNvSpPr/>
          <p:nvPr/>
        </p:nvSpPr>
        <p:spPr>
          <a:xfrm>
            <a:off x="15988281" y="8403640"/>
            <a:ext cx="7124650" cy="274320"/>
          </a:xfrm>
          <a:prstGeom prst="roundRect">
            <a:avLst>
              <a:gd name="adj" fmla="val 35000"/>
            </a:avLst>
          </a:prstGeom>
          <a:solidFill>
            <a:srgbClr val="EE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5988281" y="8403640"/>
            <a:ext cx="54864" cy="274320"/>
          </a:xfrm>
          <a:prstGeom prst="rect">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6116297" y="8403640"/>
            <a:ext cx="6960058" cy="274320"/>
          </a:xfrm>
          <a:prstGeom prst="rect">
            <a:avLst/>
          </a:prstGeom>
          <a:noFill/>
        </p:spPr>
        <p:txBody>
          <a:bodyPr wrap="square" anchor="ctr">
            <a:spAutoFit/>
          </a:bodyPr>
          <a:lstStyle/>
          <a:p>
            <a:pPr algn="l">
              <a:spcBef>
                <a:spcPts val="0"/>
              </a:spcBef>
              <a:spcAft>
                <a:spcPts val="0"/>
              </a:spcAft>
            </a:pPr>
            <a:r>
              <a:rPr sz="1200" b="1">
                <a:solidFill>
                  <a:srgbClr val="12355B"/>
                </a:solidFill>
                <a:latin typeface="Calibri"/>
                <a:ea typeface="Calibri"/>
                <a:cs typeface="Calibri"/>
              </a:rPr>
              <a:t>Spinal hemangioblastoma pattern</a:t>
            </a:r>
          </a:p>
        </p:txBody>
      </p:sp>
      <p:sp>
        <p:nvSpPr>
          <p:cNvPr id="88" name="Rounded Rectangle 87"/>
          <p:cNvSpPr/>
          <p:nvPr/>
        </p:nvSpPr>
        <p:spPr>
          <a:xfrm>
            <a:off x="8369855" y="8860840"/>
            <a:ext cx="7344106" cy="4554016"/>
          </a:xfrm>
          <a:prstGeom prst="roundRect">
            <a:avLst>
              <a:gd name="adj" fmla="val 6000"/>
            </a:avLst>
          </a:prstGeom>
          <a:solidFill>
            <a:srgbClr val="FFFFFF"/>
          </a:solidFill>
          <a:ln w="12700">
            <a:solidFill>
              <a:srgbClr val="D5DCE5"/>
            </a:solidFill>
          </a:ln>
          <a:effectLst>
            <a:outerShdw blurRad="32000" dist="20000" dir="2700000" algn="tl"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8461295" y="8952280"/>
            <a:ext cx="7161226" cy="2277008"/>
          </a:xfrm>
          <a:prstGeom prst="roundRect">
            <a:avLst>
              <a:gd name="adj" fmla="val 5000"/>
            </a:avLst>
          </a:prstGeom>
          <a:solidFill>
            <a:srgbClr val="E6EFF6"/>
          </a:solidFill>
          <a:ln w="12700">
            <a:solidFill>
              <a:srgbClr val="C2D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8534447" y="9025432"/>
            <a:ext cx="2240280" cy="274320"/>
          </a:xfrm>
          <a:prstGeom prst="roundRect">
            <a:avLst>
              <a:gd name="adj" fmla="val 40000"/>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34447" y="9025432"/>
            <a:ext cx="224028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MRI Thoracic Spine</a:t>
            </a:r>
          </a:p>
        </p:txBody>
      </p:sp>
      <p:sp>
        <p:nvSpPr>
          <p:cNvPr id="92" name="TextBox 91"/>
          <p:cNvSpPr txBox="1"/>
          <p:nvPr/>
        </p:nvSpPr>
        <p:spPr>
          <a:xfrm>
            <a:off x="8461295" y="9962768"/>
            <a:ext cx="7161226" cy="329184"/>
          </a:xfrm>
          <a:prstGeom prst="rect">
            <a:avLst/>
          </a:prstGeom>
          <a:noFill/>
        </p:spPr>
        <p:txBody>
          <a:bodyPr wrap="square" anchor="ctr">
            <a:spAutoFit/>
          </a:bodyPr>
          <a:lstStyle/>
          <a:p>
            <a:pPr algn="ctr">
              <a:spcBef>
                <a:spcPts val="0"/>
              </a:spcBef>
              <a:spcAft>
                <a:spcPts val="0"/>
              </a:spcAft>
            </a:pPr>
            <a:r>
              <a:rPr sz="1300" b="0">
                <a:solidFill>
                  <a:srgbClr val="8FA8BE"/>
                </a:solidFill>
                <a:latin typeface="Calibri"/>
                <a:ea typeface="Calibri"/>
                <a:cs typeface="Calibri"/>
              </a:rPr>
              <a:t>Insert Radiology Image</a:t>
            </a:r>
          </a:p>
        </p:txBody>
      </p:sp>
      <p:sp>
        <p:nvSpPr>
          <p:cNvPr id="93" name="TextBox 92"/>
          <p:cNvSpPr txBox="1"/>
          <p:nvPr/>
        </p:nvSpPr>
        <p:spPr>
          <a:xfrm>
            <a:off x="8497871" y="11302441"/>
            <a:ext cx="7088074" cy="713232"/>
          </a:xfrm>
          <a:prstGeom prst="rect">
            <a:avLst/>
          </a:prstGeom>
          <a:noFill/>
        </p:spPr>
        <p:txBody>
          <a:bodyPr wrap="square" anchor="t">
            <a:spAutoFit/>
          </a:bodyPr>
          <a:lstStyle/>
          <a:p>
            <a:pPr algn="l">
              <a:spcBef>
                <a:spcPts val="0"/>
              </a:spcBef>
              <a:spcAft>
                <a:spcPts val="0"/>
              </a:spcAft>
            </a:pPr>
            <a:r>
              <a:rPr sz="1300" b="0">
                <a:solidFill>
                  <a:srgbClr val="2A3138"/>
                </a:solidFill>
                <a:latin typeface="Calibri"/>
                <a:ea typeface="Calibri"/>
                <a:cs typeface="Calibri"/>
              </a:rPr>
              <a:t>Long-segment intramedullary cystic lesion (D5–D8) with enhancing mural nodule.</a:t>
            </a:r>
          </a:p>
        </p:txBody>
      </p:sp>
      <p:sp>
        <p:nvSpPr>
          <p:cNvPr id="94" name="Rounded Rectangle 93"/>
          <p:cNvSpPr/>
          <p:nvPr/>
        </p:nvSpPr>
        <p:spPr>
          <a:xfrm>
            <a:off x="8479583" y="13049097"/>
            <a:ext cx="7124650" cy="274320"/>
          </a:xfrm>
          <a:prstGeom prst="roundRect">
            <a:avLst>
              <a:gd name="adj" fmla="val 35000"/>
            </a:avLst>
          </a:prstGeom>
          <a:solidFill>
            <a:srgbClr val="EE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479583" y="13049097"/>
            <a:ext cx="54864" cy="274320"/>
          </a:xfrm>
          <a:prstGeom prst="rect">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607599" y="13049097"/>
            <a:ext cx="6960058" cy="274320"/>
          </a:xfrm>
          <a:prstGeom prst="rect">
            <a:avLst/>
          </a:prstGeom>
          <a:noFill/>
        </p:spPr>
        <p:txBody>
          <a:bodyPr wrap="square" anchor="ctr">
            <a:spAutoFit/>
          </a:bodyPr>
          <a:lstStyle/>
          <a:p>
            <a:pPr algn="l">
              <a:spcBef>
                <a:spcPts val="0"/>
              </a:spcBef>
              <a:spcAft>
                <a:spcPts val="0"/>
              </a:spcAft>
            </a:pPr>
            <a:r>
              <a:rPr sz="1200" b="1">
                <a:solidFill>
                  <a:srgbClr val="12355B"/>
                </a:solidFill>
                <a:latin typeface="Calibri"/>
                <a:ea typeface="Calibri"/>
                <a:cs typeface="Calibri"/>
              </a:rPr>
              <a:t>Additional spinal involvement</a:t>
            </a:r>
          </a:p>
        </p:txBody>
      </p:sp>
      <p:sp>
        <p:nvSpPr>
          <p:cNvPr id="97" name="Rounded Rectangle 96"/>
          <p:cNvSpPr/>
          <p:nvPr/>
        </p:nvSpPr>
        <p:spPr>
          <a:xfrm>
            <a:off x="15878553" y="8860840"/>
            <a:ext cx="7344106" cy="4554016"/>
          </a:xfrm>
          <a:prstGeom prst="roundRect">
            <a:avLst>
              <a:gd name="adj" fmla="val 6000"/>
            </a:avLst>
          </a:prstGeom>
          <a:solidFill>
            <a:srgbClr val="FFFFFF"/>
          </a:solidFill>
          <a:ln w="12700">
            <a:solidFill>
              <a:srgbClr val="D5DCE5"/>
            </a:solidFill>
          </a:ln>
          <a:effectLst>
            <a:outerShdw blurRad="32000" dist="20000" dir="2700000" algn="tl"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ounded Rectangle 97"/>
          <p:cNvSpPr/>
          <p:nvPr/>
        </p:nvSpPr>
        <p:spPr>
          <a:xfrm>
            <a:off x="15969993" y="8952280"/>
            <a:ext cx="7161226" cy="2277008"/>
          </a:xfrm>
          <a:prstGeom prst="roundRect">
            <a:avLst>
              <a:gd name="adj" fmla="val 5000"/>
            </a:avLst>
          </a:prstGeom>
          <a:solidFill>
            <a:srgbClr val="E6EFF6"/>
          </a:solidFill>
          <a:ln w="12700">
            <a:solidFill>
              <a:srgbClr val="C2D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16043145" y="9025432"/>
            <a:ext cx="2240280" cy="274320"/>
          </a:xfrm>
          <a:prstGeom prst="roundRect">
            <a:avLst>
              <a:gd name="adj" fmla="val 40000"/>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6043145" y="9025432"/>
            <a:ext cx="224028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Hemangioblastoma</a:t>
            </a:r>
          </a:p>
        </p:txBody>
      </p:sp>
      <p:sp>
        <p:nvSpPr>
          <p:cNvPr id="101" name="TextBox 100"/>
          <p:cNvSpPr txBox="1"/>
          <p:nvPr/>
        </p:nvSpPr>
        <p:spPr>
          <a:xfrm>
            <a:off x="15969993" y="9962768"/>
            <a:ext cx="7161226" cy="329184"/>
          </a:xfrm>
          <a:prstGeom prst="rect">
            <a:avLst/>
          </a:prstGeom>
          <a:noFill/>
        </p:spPr>
        <p:txBody>
          <a:bodyPr wrap="square" anchor="ctr">
            <a:spAutoFit/>
          </a:bodyPr>
          <a:lstStyle/>
          <a:p>
            <a:pPr algn="ctr">
              <a:spcBef>
                <a:spcPts val="0"/>
              </a:spcBef>
              <a:spcAft>
                <a:spcPts val="0"/>
              </a:spcAft>
            </a:pPr>
            <a:r>
              <a:rPr sz="1300" b="0">
                <a:solidFill>
                  <a:srgbClr val="8FA8BE"/>
                </a:solidFill>
                <a:latin typeface="Calibri"/>
                <a:ea typeface="Calibri"/>
                <a:cs typeface="Calibri"/>
              </a:rPr>
              <a:t>Insert Radiology Image</a:t>
            </a:r>
          </a:p>
        </p:txBody>
      </p:sp>
      <p:sp>
        <p:nvSpPr>
          <p:cNvPr id="102" name="TextBox 101"/>
          <p:cNvSpPr txBox="1"/>
          <p:nvPr/>
        </p:nvSpPr>
        <p:spPr>
          <a:xfrm>
            <a:off x="16006569" y="11302441"/>
            <a:ext cx="7088074" cy="713232"/>
          </a:xfrm>
          <a:prstGeom prst="rect">
            <a:avLst/>
          </a:prstGeom>
          <a:noFill/>
        </p:spPr>
        <p:txBody>
          <a:bodyPr wrap="square" anchor="t">
            <a:spAutoFit/>
          </a:bodyPr>
          <a:lstStyle/>
          <a:p>
            <a:pPr algn="l">
              <a:spcBef>
                <a:spcPts val="0"/>
              </a:spcBef>
              <a:spcAft>
                <a:spcPts val="0"/>
              </a:spcAft>
            </a:pPr>
            <a:r>
              <a:rPr sz="1300" b="0">
                <a:solidFill>
                  <a:srgbClr val="2A3138"/>
                </a:solidFill>
                <a:latin typeface="Calibri"/>
                <a:ea typeface="Calibri"/>
                <a:cs typeface="Calibri"/>
              </a:rPr>
              <a:t>Enhancing mural nodules within intramedullary cystic lesions — hallmark of spinal hemangioblastomas.</a:t>
            </a:r>
          </a:p>
        </p:txBody>
      </p:sp>
      <p:sp>
        <p:nvSpPr>
          <p:cNvPr id="103" name="Rounded Rectangle 102"/>
          <p:cNvSpPr/>
          <p:nvPr/>
        </p:nvSpPr>
        <p:spPr>
          <a:xfrm>
            <a:off x="15988281" y="13049097"/>
            <a:ext cx="7124650" cy="274320"/>
          </a:xfrm>
          <a:prstGeom prst="roundRect">
            <a:avLst>
              <a:gd name="adj" fmla="val 35000"/>
            </a:avLst>
          </a:prstGeom>
          <a:solidFill>
            <a:srgbClr val="EE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5988281" y="13049097"/>
            <a:ext cx="54864" cy="274320"/>
          </a:xfrm>
          <a:prstGeom prst="rect">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6116297" y="13049097"/>
            <a:ext cx="6960058" cy="274320"/>
          </a:xfrm>
          <a:prstGeom prst="rect">
            <a:avLst/>
          </a:prstGeom>
          <a:noFill/>
        </p:spPr>
        <p:txBody>
          <a:bodyPr wrap="square" anchor="ctr">
            <a:spAutoFit/>
          </a:bodyPr>
          <a:lstStyle/>
          <a:p>
            <a:pPr algn="l">
              <a:spcBef>
                <a:spcPts val="0"/>
              </a:spcBef>
              <a:spcAft>
                <a:spcPts val="0"/>
              </a:spcAft>
            </a:pPr>
            <a:r>
              <a:rPr sz="1200" b="1">
                <a:solidFill>
                  <a:srgbClr val="12355B"/>
                </a:solidFill>
                <a:latin typeface="Calibri"/>
                <a:ea typeface="Calibri"/>
                <a:cs typeface="Calibri"/>
              </a:rPr>
              <a:t>Key CNS finding in VHL</a:t>
            </a:r>
          </a:p>
        </p:txBody>
      </p:sp>
      <p:sp>
        <p:nvSpPr>
          <p:cNvPr id="106" name="Rounded Rectangle 105"/>
          <p:cNvSpPr/>
          <p:nvPr/>
        </p:nvSpPr>
        <p:spPr>
          <a:xfrm>
            <a:off x="8369855" y="13506297"/>
            <a:ext cx="7344106" cy="4554016"/>
          </a:xfrm>
          <a:prstGeom prst="roundRect">
            <a:avLst>
              <a:gd name="adj" fmla="val 6000"/>
            </a:avLst>
          </a:prstGeom>
          <a:solidFill>
            <a:srgbClr val="FFFFFF"/>
          </a:solidFill>
          <a:ln w="12700">
            <a:solidFill>
              <a:srgbClr val="D5DCE5"/>
            </a:solidFill>
          </a:ln>
          <a:effectLst>
            <a:outerShdw blurRad="32000" dist="20000" dir="2700000" algn="tl"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8461295" y="13597737"/>
            <a:ext cx="7161226" cy="2277008"/>
          </a:xfrm>
          <a:prstGeom prst="roundRect">
            <a:avLst>
              <a:gd name="adj" fmla="val 5000"/>
            </a:avLst>
          </a:prstGeom>
          <a:solidFill>
            <a:srgbClr val="E6EFF6"/>
          </a:solidFill>
          <a:ln w="12700">
            <a:solidFill>
              <a:srgbClr val="C2D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8534447" y="13670889"/>
            <a:ext cx="2240280" cy="274320"/>
          </a:xfrm>
          <a:prstGeom prst="roundRect">
            <a:avLst>
              <a:gd name="adj" fmla="val 40000"/>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534447" y="13670889"/>
            <a:ext cx="224028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Pancreatic Cysts</a:t>
            </a:r>
          </a:p>
        </p:txBody>
      </p:sp>
      <p:sp>
        <p:nvSpPr>
          <p:cNvPr id="110" name="TextBox 109"/>
          <p:cNvSpPr txBox="1"/>
          <p:nvPr/>
        </p:nvSpPr>
        <p:spPr>
          <a:xfrm>
            <a:off x="8461295" y="14608225"/>
            <a:ext cx="7161226" cy="329184"/>
          </a:xfrm>
          <a:prstGeom prst="rect">
            <a:avLst/>
          </a:prstGeom>
          <a:noFill/>
        </p:spPr>
        <p:txBody>
          <a:bodyPr wrap="square" anchor="ctr">
            <a:spAutoFit/>
          </a:bodyPr>
          <a:lstStyle/>
          <a:p>
            <a:pPr algn="ctr">
              <a:spcBef>
                <a:spcPts val="0"/>
              </a:spcBef>
              <a:spcAft>
                <a:spcPts val="0"/>
              </a:spcAft>
            </a:pPr>
            <a:r>
              <a:rPr sz="1300" b="0">
                <a:solidFill>
                  <a:srgbClr val="8FA8BE"/>
                </a:solidFill>
                <a:latin typeface="Calibri"/>
                <a:ea typeface="Calibri"/>
                <a:cs typeface="Calibri"/>
              </a:rPr>
              <a:t>Insert Radiology Image</a:t>
            </a:r>
          </a:p>
        </p:txBody>
      </p:sp>
      <p:sp>
        <p:nvSpPr>
          <p:cNvPr id="111" name="TextBox 110"/>
          <p:cNvSpPr txBox="1"/>
          <p:nvPr/>
        </p:nvSpPr>
        <p:spPr>
          <a:xfrm>
            <a:off x="8497871" y="15947897"/>
            <a:ext cx="7088074" cy="713232"/>
          </a:xfrm>
          <a:prstGeom prst="rect">
            <a:avLst/>
          </a:prstGeom>
          <a:noFill/>
        </p:spPr>
        <p:txBody>
          <a:bodyPr wrap="square" anchor="t">
            <a:spAutoFit/>
          </a:bodyPr>
          <a:lstStyle/>
          <a:p>
            <a:pPr algn="l">
              <a:spcBef>
                <a:spcPts val="0"/>
              </a:spcBef>
              <a:spcAft>
                <a:spcPts val="0"/>
              </a:spcAft>
            </a:pPr>
            <a:r>
              <a:rPr sz="1300" b="0">
                <a:solidFill>
                  <a:srgbClr val="2A3138"/>
                </a:solidFill>
                <a:latin typeface="Calibri"/>
                <a:ea typeface="Calibri"/>
                <a:cs typeface="Calibri"/>
              </a:rPr>
              <a:t>Multiple pancreatic cysts on CT abdomen — characteristic visceral manifestation of VHL.</a:t>
            </a:r>
          </a:p>
        </p:txBody>
      </p:sp>
      <p:sp>
        <p:nvSpPr>
          <p:cNvPr id="112" name="Rounded Rectangle 111"/>
          <p:cNvSpPr/>
          <p:nvPr/>
        </p:nvSpPr>
        <p:spPr>
          <a:xfrm>
            <a:off x="8479583" y="17694554"/>
            <a:ext cx="7124650" cy="274320"/>
          </a:xfrm>
          <a:prstGeom prst="roundRect">
            <a:avLst>
              <a:gd name="adj" fmla="val 35000"/>
            </a:avLst>
          </a:prstGeom>
          <a:solidFill>
            <a:srgbClr val="EE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8479583" y="17694554"/>
            <a:ext cx="54864" cy="274320"/>
          </a:xfrm>
          <a:prstGeom prst="rect">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607599" y="17694554"/>
            <a:ext cx="6960058" cy="274320"/>
          </a:xfrm>
          <a:prstGeom prst="rect">
            <a:avLst/>
          </a:prstGeom>
          <a:noFill/>
        </p:spPr>
        <p:txBody>
          <a:bodyPr wrap="square" anchor="ctr">
            <a:spAutoFit/>
          </a:bodyPr>
          <a:lstStyle/>
          <a:p>
            <a:pPr algn="l">
              <a:spcBef>
                <a:spcPts val="0"/>
              </a:spcBef>
              <a:spcAft>
                <a:spcPts val="0"/>
              </a:spcAft>
            </a:pPr>
            <a:r>
              <a:rPr sz="1200" b="1">
                <a:solidFill>
                  <a:srgbClr val="12355B"/>
                </a:solidFill>
                <a:latin typeface="Calibri"/>
                <a:ea typeface="Calibri"/>
                <a:cs typeface="Calibri"/>
              </a:rPr>
              <a:t>Visceral hallmark</a:t>
            </a:r>
          </a:p>
        </p:txBody>
      </p:sp>
      <p:sp>
        <p:nvSpPr>
          <p:cNvPr id="115" name="Rounded Rectangle 114"/>
          <p:cNvSpPr/>
          <p:nvPr/>
        </p:nvSpPr>
        <p:spPr>
          <a:xfrm>
            <a:off x="15878553" y="13506297"/>
            <a:ext cx="7344106" cy="4554016"/>
          </a:xfrm>
          <a:prstGeom prst="roundRect">
            <a:avLst>
              <a:gd name="adj" fmla="val 6000"/>
            </a:avLst>
          </a:prstGeom>
          <a:solidFill>
            <a:srgbClr val="FFFFFF"/>
          </a:solidFill>
          <a:ln w="12700">
            <a:solidFill>
              <a:srgbClr val="D5DCE5"/>
            </a:solidFill>
          </a:ln>
          <a:effectLst>
            <a:outerShdw blurRad="32000" dist="20000" dir="2700000" algn="tl" rotWithShape="0">
              <a:prstClr val="black">
                <a:alpha val="1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15969993" y="13597737"/>
            <a:ext cx="7161226" cy="2277008"/>
          </a:xfrm>
          <a:prstGeom prst="roundRect">
            <a:avLst>
              <a:gd name="adj" fmla="val 5000"/>
            </a:avLst>
          </a:prstGeom>
          <a:solidFill>
            <a:srgbClr val="E6EFF6"/>
          </a:solidFill>
          <a:ln w="12700">
            <a:solidFill>
              <a:srgbClr val="C2D3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16043145" y="13670889"/>
            <a:ext cx="2240280" cy="274320"/>
          </a:xfrm>
          <a:prstGeom prst="roundRect">
            <a:avLst>
              <a:gd name="adj" fmla="val 40000"/>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6043145" y="13670889"/>
            <a:ext cx="224028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Renal Cysts</a:t>
            </a:r>
          </a:p>
        </p:txBody>
      </p:sp>
      <p:sp>
        <p:nvSpPr>
          <p:cNvPr id="119" name="TextBox 118"/>
          <p:cNvSpPr txBox="1"/>
          <p:nvPr/>
        </p:nvSpPr>
        <p:spPr>
          <a:xfrm>
            <a:off x="15969993" y="14608225"/>
            <a:ext cx="7161226" cy="329184"/>
          </a:xfrm>
          <a:prstGeom prst="rect">
            <a:avLst/>
          </a:prstGeom>
          <a:noFill/>
        </p:spPr>
        <p:txBody>
          <a:bodyPr wrap="square" anchor="ctr">
            <a:spAutoFit/>
          </a:bodyPr>
          <a:lstStyle/>
          <a:p>
            <a:pPr algn="ctr">
              <a:spcBef>
                <a:spcPts val="0"/>
              </a:spcBef>
              <a:spcAft>
                <a:spcPts val="0"/>
              </a:spcAft>
            </a:pPr>
            <a:r>
              <a:rPr sz="1300" b="0">
                <a:solidFill>
                  <a:srgbClr val="8FA8BE"/>
                </a:solidFill>
                <a:latin typeface="Calibri"/>
                <a:ea typeface="Calibri"/>
                <a:cs typeface="Calibri"/>
              </a:rPr>
              <a:t>Insert Radiology Image</a:t>
            </a:r>
          </a:p>
        </p:txBody>
      </p:sp>
      <p:sp>
        <p:nvSpPr>
          <p:cNvPr id="120" name="TextBox 119"/>
          <p:cNvSpPr txBox="1"/>
          <p:nvPr/>
        </p:nvSpPr>
        <p:spPr>
          <a:xfrm>
            <a:off x="16006569" y="15947897"/>
            <a:ext cx="7088074" cy="713232"/>
          </a:xfrm>
          <a:prstGeom prst="rect">
            <a:avLst/>
          </a:prstGeom>
          <a:noFill/>
        </p:spPr>
        <p:txBody>
          <a:bodyPr wrap="square" anchor="t">
            <a:spAutoFit/>
          </a:bodyPr>
          <a:lstStyle/>
          <a:p>
            <a:pPr algn="l">
              <a:spcBef>
                <a:spcPts val="0"/>
              </a:spcBef>
              <a:spcAft>
                <a:spcPts val="0"/>
              </a:spcAft>
            </a:pPr>
            <a:r>
              <a:rPr sz="1300" b="0">
                <a:solidFill>
                  <a:srgbClr val="2A3138"/>
                </a:solidFill>
                <a:latin typeface="Calibri"/>
                <a:ea typeface="Calibri"/>
                <a:cs typeface="Calibri"/>
              </a:rPr>
              <a:t>Bilateral renal cortical cysts on CT abdomen; VHL spectrum includes renal cell carcinoma risk.</a:t>
            </a:r>
          </a:p>
        </p:txBody>
      </p:sp>
      <p:sp>
        <p:nvSpPr>
          <p:cNvPr id="121" name="Rounded Rectangle 120"/>
          <p:cNvSpPr/>
          <p:nvPr/>
        </p:nvSpPr>
        <p:spPr>
          <a:xfrm>
            <a:off x="15988281" y="17694554"/>
            <a:ext cx="7124650" cy="274320"/>
          </a:xfrm>
          <a:prstGeom prst="roundRect">
            <a:avLst>
              <a:gd name="adj" fmla="val 35000"/>
            </a:avLst>
          </a:prstGeom>
          <a:solidFill>
            <a:srgbClr val="EE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5988281" y="17694554"/>
            <a:ext cx="54864" cy="274320"/>
          </a:xfrm>
          <a:prstGeom prst="rect">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6116297" y="17694554"/>
            <a:ext cx="6960058" cy="274320"/>
          </a:xfrm>
          <a:prstGeom prst="rect">
            <a:avLst/>
          </a:prstGeom>
          <a:noFill/>
        </p:spPr>
        <p:txBody>
          <a:bodyPr wrap="square" anchor="ctr">
            <a:spAutoFit/>
          </a:bodyPr>
          <a:lstStyle/>
          <a:p>
            <a:pPr algn="l">
              <a:spcBef>
                <a:spcPts val="0"/>
              </a:spcBef>
              <a:spcAft>
                <a:spcPts val="0"/>
              </a:spcAft>
            </a:pPr>
            <a:r>
              <a:rPr sz="1200" b="1">
                <a:solidFill>
                  <a:srgbClr val="12355B"/>
                </a:solidFill>
                <a:latin typeface="Calibri"/>
                <a:ea typeface="Calibri"/>
                <a:cs typeface="Calibri"/>
              </a:rPr>
              <a:t>Bilateral renal involvement</a:t>
            </a:r>
          </a:p>
        </p:txBody>
      </p:sp>
      <p:sp>
        <p:nvSpPr>
          <p:cNvPr id="124" name="Rounded Rectangle 123"/>
          <p:cNvSpPr/>
          <p:nvPr/>
        </p:nvSpPr>
        <p:spPr>
          <a:xfrm>
            <a:off x="23716435" y="2788920"/>
            <a:ext cx="9358326" cy="2788920"/>
          </a:xfrm>
          <a:prstGeom prst="roundRect">
            <a:avLst>
              <a:gd name="adj" fmla="val 7000"/>
            </a:avLst>
          </a:prstGeom>
          <a:solidFill>
            <a:srgbClr val="F2F7FC"/>
          </a:solidFill>
          <a:ln w="12700">
            <a:solidFill>
              <a:srgbClr val="D5DCE5"/>
            </a:solidFill>
          </a:ln>
          <a:effectLst>
            <a:outerShdw blurRad="45000" dist="32000" dir="2700000" algn="tl" rotWithShape="0">
              <a:prstClr val="black">
                <a:alpha val="16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ounded Rectangle 124"/>
          <p:cNvSpPr/>
          <p:nvPr/>
        </p:nvSpPr>
        <p:spPr>
          <a:xfrm>
            <a:off x="23899315" y="3008376"/>
            <a:ext cx="82296" cy="256032"/>
          </a:xfrm>
          <a:prstGeom prst="roundRect">
            <a:avLst>
              <a:gd name="adj" fmla="val 50000"/>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24082195" y="2916936"/>
            <a:ext cx="8809686" cy="402336"/>
          </a:xfrm>
          <a:prstGeom prst="rect">
            <a:avLst/>
          </a:prstGeom>
          <a:noFill/>
        </p:spPr>
        <p:txBody>
          <a:bodyPr wrap="square" anchor="ctr">
            <a:spAutoFit/>
          </a:bodyPr>
          <a:lstStyle/>
          <a:p>
            <a:pPr algn="l">
              <a:spcBef>
                <a:spcPts val="0"/>
              </a:spcBef>
              <a:spcAft>
                <a:spcPts val="0"/>
              </a:spcAft>
            </a:pPr>
            <a:r>
              <a:rPr sz="3000" b="1">
                <a:solidFill>
                  <a:srgbClr val="12355B"/>
                </a:solidFill>
                <a:latin typeface="Calibri"/>
                <a:ea typeface="Calibri"/>
                <a:cs typeface="Calibri"/>
              </a:rPr>
              <a:t>Clinical Significance</a:t>
            </a:r>
          </a:p>
        </p:txBody>
      </p:sp>
      <p:sp>
        <p:nvSpPr>
          <p:cNvPr id="127" name="Rounded Rectangle 126"/>
          <p:cNvSpPr/>
          <p:nvPr/>
        </p:nvSpPr>
        <p:spPr>
          <a:xfrm>
            <a:off x="23935891" y="3429000"/>
            <a:ext cx="91440" cy="91440"/>
          </a:xfrm>
          <a:prstGeom prst="roundRect">
            <a:avLst>
              <a:gd name="adj" fmla="val 50000"/>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4137059" y="3374136"/>
            <a:ext cx="8736534" cy="658368"/>
          </a:xfrm>
          <a:prstGeom prst="rect">
            <a:avLst/>
          </a:prstGeom>
          <a:noFill/>
        </p:spPr>
        <p:txBody>
          <a:bodyPr wrap="square" anchor="t">
            <a:spAutoFit/>
          </a:bodyPr>
          <a:lstStyle/>
          <a:p>
            <a:pPr algn="l">
              <a:spcBef>
                <a:spcPts val="0"/>
              </a:spcBef>
              <a:spcAft>
                <a:spcPts val="0"/>
              </a:spcAft>
            </a:pPr>
            <a:r>
              <a:rPr sz="1500" b="0">
                <a:solidFill>
                  <a:srgbClr val="2A3138"/>
                </a:solidFill>
                <a:latin typeface="Calibri"/>
                <a:ea typeface="Calibri"/>
                <a:cs typeface="Calibri"/>
              </a:rPr>
              <a:t>Multimodality imaging (CT + MRI) enables recognition of VHL as a unifying diagnosis.</a:t>
            </a:r>
          </a:p>
        </p:txBody>
      </p:sp>
      <p:sp>
        <p:nvSpPr>
          <p:cNvPr id="129" name="Rounded Rectangle 128"/>
          <p:cNvSpPr/>
          <p:nvPr/>
        </p:nvSpPr>
        <p:spPr>
          <a:xfrm>
            <a:off x="23935891" y="4087368"/>
            <a:ext cx="91440" cy="91440"/>
          </a:xfrm>
          <a:prstGeom prst="roundRect">
            <a:avLst>
              <a:gd name="adj" fmla="val 50000"/>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4137059" y="4032504"/>
            <a:ext cx="8736534" cy="658368"/>
          </a:xfrm>
          <a:prstGeom prst="rect">
            <a:avLst/>
          </a:prstGeom>
          <a:noFill/>
        </p:spPr>
        <p:txBody>
          <a:bodyPr wrap="square" anchor="t">
            <a:spAutoFit/>
          </a:bodyPr>
          <a:lstStyle/>
          <a:p>
            <a:pPr algn="l">
              <a:spcBef>
                <a:spcPts val="0"/>
              </a:spcBef>
              <a:spcAft>
                <a:spcPts val="0"/>
              </a:spcAft>
            </a:pPr>
            <a:r>
              <a:rPr sz="1500" b="0">
                <a:solidFill>
                  <a:srgbClr val="2A3138"/>
                </a:solidFill>
                <a:latin typeface="Calibri"/>
                <a:ea typeface="Calibri"/>
                <a:cs typeface="Calibri"/>
              </a:rPr>
              <a:t>Early identification supports timely surveillance for CNS hemangioblastomas and visceral lesions, including renal cell carcinoma risk.</a:t>
            </a:r>
          </a:p>
        </p:txBody>
      </p:sp>
      <p:sp>
        <p:nvSpPr>
          <p:cNvPr id="131" name="Rounded Rectangle 130"/>
          <p:cNvSpPr/>
          <p:nvPr/>
        </p:nvSpPr>
        <p:spPr>
          <a:xfrm>
            <a:off x="23935891" y="4745736"/>
            <a:ext cx="91440" cy="91440"/>
          </a:xfrm>
          <a:prstGeom prst="roundRect">
            <a:avLst>
              <a:gd name="adj" fmla="val 50000"/>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4137059" y="4690872"/>
            <a:ext cx="8736534" cy="658368"/>
          </a:xfrm>
          <a:prstGeom prst="rect">
            <a:avLst/>
          </a:prstGeom>
          <a:noFill/>
        </p:spPr>
        <p:txBody>
          <a:bodyPr wrap="square" anchor="t">
            <a:spAutoFit/>
          </a:bodyPr>
          <a:lstStyle/>
          <a:p>
            <a:pPr algn="l">
              <a:spcBef>
                <a:spcPts val="0"/>
              </a:spcBef>
              <a:spcAft>
                <a:spcPts val="0"/>
              </a:spcAft>
            </a:pPr>
            <a:r>
              <a:rPr sz="1500" b="0">
                <a:solidFill>
                  <a:srgbClr val="2A3138"/>
                </a:solidFill>
                <a:latin typeface="Calibri"/>
                <a:ea typeface="Calibri"/>
                <a:cs typeface="Calibri"/>
              </a:rPr>
              <a:t>Imaging-driven diagnosis facilitates multidisciplinary management and genetic counselling.</a:t>
            </a:r>
          </a:p>
        </p:txBody>
      </p:sp>
      <p:sp>
        <p:nvSpPr>
          <p:cNvPr id="133" name="Rounded Rectangle 132"/>
          <p:cNvSpPr/>
          <p:nvPr/>
        </p:nvSpPr>
        <p:spPr>
          <a:xfrm>
            <a:off x="23716435" y="5724144"/>
            <a:ext cx="9358326" cy="2606040"/>
          </a:xfrm>
          <a:prstGeom prst="roundRect">
            <a:avLst>
              <a:gd name="adj" fmla="val 7000"/>
            </a:avLst>
          </a:prstGeom>
          <a:solidFill>
            <a:srgbClr val="12355B"/>
          </a:solidFill>
          <a:ln>
            <a:noFill/>
          </a:ln>
          <a:effectLst>
            <a:outerShdw blurRad="55000" dist="350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23716435" y="5724144"/>
            <a:ext cx="9358326" cy="73152"/>
          </a:xfrm>
          <a:prstGeom prst="rect">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23972467" y="5925312"/>
            <a:ext cx="8846262" cy="365760"/>
          </a:xfrm>
          <a:prstGeom prst="rect">
            <a:avLst/>
          </a:prstGeom>
          <a:noFill/>
        </p:spPr>
        <p:txBody>
          <a:bodyPr wrap="square" anchor="t">
            <a:spAutoFit/>
          </a:bodyPr>
          <a:lstStyle/>
          <a:p>
            <a:pPr algn="l">
              <a:spcBef>
                <a:spcPts val="0"/>
              </a:spcBef>
              <a:spcAft>
                <a:spcPts val="0"/>
              </a:spcAft>
            </a:pPr>
            <a:r>
              <a:rPr sz="3000" b="1">
                <a:solidFill>
                  <a:srgbClr val="FFFFFF"/>
                </a:solidFill>
                <a:latin typeface="Calibri"/>
                <a:ea typeface="Calibri"/>
                <a:cs typeface="Calibri"/>
              </a:rPr>
              <a:t>Conclusion</a:t>
            </a:r>
          </a:p>
        </p:txBody>
      </p:sp>
      <p:sp>
        <p:nvSpPr>
          <p:cNvPr id="136" name="Oval 135"/>
          <p:cNvSpPr/>
          <p:nvPr/>
        </p:nvSpPr>
        <p:spPr>
          <a:xfrm>
            <a:off x="23990755" y="6455664"/>
            <a:ext cx="128016" cy="128016"/>
          </a:xfrm>
          <a:prstGeom prst="ellipse">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4228499" y="6382512"/>
            <a:ext cx="8626806" cy="822960"/>
          </a:xfrm>
          <a:prstGeom prst="rect">
            <a:avLst/>
          </a:prstGeom>
          <a:noFill/>
        </p:spPr>
        <p:txBody>
          <a:bodyPr wrap="square" anchor="t">
            <a:spAutoFit/>
          </a:bodyPr>
          <a:lstStyle/>
          <a:p>
            <a:pPr algn="l">
              <a:spcBef>
                <a:spcPts val="0"/>
              </a:spcBef>
              <a:spcAft>
                <a:spcPts val="0"/>
              </a:spcAft>
            </a:pPr>
            <a:r>
              <a:rPr sz="1600" b="0">
                <a:solidFill>
                  <a:srgbClr val="FFFFFF"/>
                </a:solidFill>
                <a:latin typeface="Calibri"/>
                <a:ea typeface="Calibri"/>
                <a:cs typeface="Calibri"/>
              </a:rPr>
              <a:t>Coexistence of spinal hemangioblastomas with pancreatic and renal cysts should prompt consideration of VHL disease.</a:t>
            </a:r>
          </a:p>
        </p:txBody>
      </p:sp>
      <p:sp>
        <p:nvSpPr>
          <p:cNvPr id="138" name="Oval 137"/>
          <p:cNvSpPr/>
          <p:nvPr/>
        </p:nvSpPr>
        <p:spPr>
          <a:xfrm>
            <a:off x="23990755" y="7324344"/>
            <a:ext cx="128016" cy="128016"/>
          </a:xfrm>
          <a:prstGeom prst="ellipse">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24228499" y="7251192"/>
            <a:ext cx="8626806" cy="822960"/>
          </a:xfrm>
          <a:prstGeom prst="rect">
            <a:avLst/>
          </a:prstGeom>
          <a:noFill/>
        </p:spPr>
        <p:txBody>
          <a:bodyPr wrap="square" anchor="t">
            <a:spAutoFit/>
          </a:bodyPr>
          <a:lstStyle/>
          <a:p>
            <a:pPr algn="l">
              <a:spcBef>
                <a:spcPts val="0"/>
              </a:spcBef>
              <a:spcAft>
                <a:spcPts val="0"/>
              </a:spcAft>
            </a:pPr>
            <a:r>
              <a:rPr sz="1600" b="0">
                <a:solidFill>
                  <a:srgbClr val="FFFFFF"/>
                </a:solidFill>
                <a:latin typeface="Calibri"/>
                <a:ea typeface="Calibri"/>
                <a:cs typeface="Calibri"/>
              </a:rPr>
              <a:t>Pattern recognition across multiple organ systems enables early diagnosis and improved patient outcomes.</a:t>
            </a:r>
          </a:p>
        </p:txBody>
      </p:sp>
      <p:sp>
        <p:nvSpPr>
          <p:cNvPr id="140" name="Rounded Rectangle 139"/>
          <p:cNvSpPr/>
          <p:nvPr/>
        </p:nvSpPr>
        <p:spPr>
          <a:xfrm>
            <a:off x="23716435" y="8476488"/>
            <a:ext cx="9358326" cy="6666231"/>
          </a:xfrm>
          <a:prstGeom prst="roundRect">
            <a:avLst>
              <a:gd name="adj" fmla="val 7000"/>
            </a:avLst>
          </a:prstGeom>
          <a:solidFill>
            <a:srgbClr val="F2F7FC"/>
          </a:solidFill>
          <a:ln w="12700">
            <a:solidFill>
              <a:srgbClr val="D5DCE5"/>
            </a:solidFill>
          </a:ln>
          <a:effectLst>
            <a:outerShdw blurRad="45000" dist="32000" dir="2700000" algn="tl" rotWithShape="0">
              <a:prstClr val="black">
                <a:alpha val="16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ounded Rectangle 140"/>
          <p:cNvSpPr/>
          <p:nvPr/>
        </p:nvSpPr>
        <p:spPr>
          <a:xfrm>
            <a:off x="23899315" y="8659368"/>
            <a:ext cx="82296" cy="256032"/>
          </a:xfrm>
          <a:prstGeom prst="roundRect">
            <a:avLst>
              <a:gd name="adj" fmla="val 50000"/>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24082195" y="8567928"/>
            <a:ext cx="8809686" cy="402336"/>
          </a:xfrm>
          <a:prstGeom prst="rect">
            <a:avLst/>
          </a:prstGeom>
          <a:noFill/>
        </p:spPr>
        <p:txBody>
          <a:bodyPr wrap="square" anchor="ctr">
            <a:spAutoFit/>
          </a:bodyPr>
          <a:lstStyle/>
          <a:p>
            <a:pPr algn="l">
              <a:spcBef>
                <a:spcPts val="0"/>
              </a:spcBef>
              <a:spcAft>
                <a:spcPts val="0"/>
              </a:spcAft>
            </a:pPr>
            <a:r>
              <a:rPr sz="3000" b="1">
                <a:solidFill>
                  <a:srgbClr val="12355B"/>
                </a:solidFill>
                <a:latin typeface="Calibri"/>
                <a:ea typeface="Calibri"/>
                <a:cs typeface="Calibri"/>
              </a:rPr>
              <a:t>Key Takeaways</a:t>
            </a:r>
          </a:p>
        </p:txBody>
      </p:sp>
      <p:sp>
        <p:nvSpPr>
          <p:cNvPr id="143" name="Rounded Rectangle 142"/>
          <p:cNvSpPr/>
          <p:nvPr/>
        </p:nvSpPr>
        <p:spPr>
          <a:xfrm>
            <a:off x="23862739" y="8988552"/>
            <a:ext cx="9065718" cy="1139393"/>
          </a:xfrm>
          <a:prstGeom prst="roundRect">
            <a:avLst>
              <a:gd name="adj" fmla="val 14000"/>
            </a:avLst>
          </a:prstGeom>
          <a:solidFill>
            <a:srgbClr val="EAF3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ounded Rectangle 143"/>
          <p:cNvSpPr/>
          <p:nvPr/>
        </p:nvSpPr>
        <p:spPr>
          <a:xfrm>
            <a:off x="23954179" y="9421088"/>
            <a:ext cx="365760" cy="274320"/>
          </a:xfrm>
          <a:prstGeom prst="roundRect">
            <a:avLst>
              <a:gd name="adj" fmla="val 25000"/>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23954179" y="9421088"/>
            <a:ext cx="36576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01</a:t>
            </a:r>
          </a:p>
        </p:txBody>
      </p:sp>
      <p:sp>
        <p:nvSpPr>
          <p:cNvPr id="146" name="TextBox 145"/>
          <p:cNvSpPr txBox="1"/>
          <p:nvPr/>
        </p:nvSpPr>
        <p:spPr>
          <a:xfrm>
            <a:off x="24429667" y="9025128"/>
            <a:ext cx="8389062" cy="1066241"/>
          </a:xfrm>
          <a:prstGeom prst="rect">
            <a:avLst/>
          </a:prstGeom>
          <a:noFill/>
        </p:spPr>
        <p:txBody>
          <a:bodyPr wrap="square" anchor="ctr">
            <a:spAutoFit/>
          </a:bodyPr>
          <a:lstStyle/>
          <a:p>
            <a:pPr algn="l">
              <a:spcBef>
                <a:spcPts val="0"/>
              </a:spcBef>
              <a:spcAft>
                <a:spcPts val="0"/>
              </a:spcAft>
            </a:pPr>
            <a:r>
              <a:rPr sz="1300" b="0">
                <a:solidFill>
                  <a:srgbClr val="2A3138"/>
                </a:solidFill>
                <a:latin typeface="Calibri"/>
                <a:ea typeface="Calibri"/>
                <a:cs typeface="Calibri"/>
              </a:rPr>
              <a:t>Multimodality imaging is pivotal in diagnosing VHL disease.</a:t>
            </a:r>
          </a:p>
        </p:txBody>
      </p:sp>
      <p:sp>
        <p:nvSpPr>
          <p:cNvPr id="147" name="Rounded Rectangle 146"/>
          <p:cNvSpPr/>
          <p:nvPr/>
        </p:nvSpPr>
        <p:spPr>
          <a:xfrm>
            <a:off x="23862739" y="10201097"/>
            <a:ext cx="9065718" cy="1139393"/>
          </a:xfrm>
          <a:prstGeom prst="roundRect">
            <a:avLst>
              <a:gd name="adj" fmla="val 14000"/>
            </a:avLst>
          </a:prstGeom>
          <a:solidFill>
            <a:srgbClr val="EAF3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23954179" y="10633634"/>
            <a:ext cx="365760" cy="274320"/>
          </a:xfrm>
          <a:prstGeom prst="roundRect">
            <a:avLst>
              <a:gd name="adj" fmla="val 25000"/>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3954179" y="10633634"/>
            <a:ext cx="36576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02</a:t>
            </a:r>
          </a:p>
        </p:txBody>
      </p:sp>
      <p:sp>
        <p:nvSpPr>
          <p:cNvPr id="150" name="TextBox 149"/>
          <p:cNvSpPr txBox="1"/>
          <p:nvPr/>
        </p:nvSpPr>
        <p:spPr>
          <a:xfrm>
            <a:off x="24429667" y="10237673"/>
            <a:ext cx="8389062" cy="1066241"/>
          </a:xfrm>
          <a:prstGeom prst="rect">
            <a:avLst/>
          </a:prstGeom>
          <a:noFill/>
        </p:spPr>
        <p:txBody>
          <a:bodyPr wrap="square" anchor="ctr">
            <a:spAutoFit/>
          </a:bodyPr>
          <a:lstStyle/>
          <a:p>
            <a:pPr algn="l">
              <a:spcBef>
                <a:spcPts val="0"/>
              </a:spcBef>
              <a:spcAft>
                <a:spcPts val="0"/>
              </a:spcAft>
            </a:pPr>
            <a:r>
              <a:rPr sz="1300" b="0">
                <a:solidFill>
                  <a:srgbClr val="2A3138"/>
                </a:solidFill>
                <a:latin typeface="Calibri"/>
                <a:ea typeface="Calibri"/>
                <a:cs typeface="Calibri"/>
              </a:rPr>
              <a:t>Spinal hemangioblastomas with pancreatic and renal cysts should raise suspicion for VHL.</a:t>
            </a:r>
          </a:p>
        </p:txBody>
      </p:sp>
      <p:sp>
        <p:nvSpPr>
          <p:cNvPr id="151" name="Rounded Rectangle 150"/>
          <p:cNvSpPr/>
          <p:nvPr/>
        </p:nvSpPr>
        <p:spPr>
          <a:xfrm>
            <a:off x="23862739" y="11413643"/>
            <a:ext cx="9065718" cy="1139393"/>
          </a:xfrm>
          <a:prstGeom prst="roundRect">
            <a:avLst>
              <a:gd name="adj" fmla="val 14000"/>
            </a:avLst>
          </a:prstGeom>
          <a:solidFill>
            <a:srgbClr val="EAF3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ounded Rectangle 151"/>
          <p:cNvSpPr/>
          <p:nvPr/>
        </p:nvSpPr>
        <p:spPr>
          <a:xfrm>
            <a:off x="23954179" y="11846179"/>
            <a:ext cx="365760" cy="274320"/>
          </a:xfrm>
          <a:prstGeom prst="roundRect">
            <a:avLst>
              <a:gd name="adj" fmla="val 25000"/>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23954179" y="11846179"/>
            <a:ext cx="36576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03</a:t>
            </a:r>
          </a:p>
        </p:txBody>
      </p:sp>
      <p:sp>
        <p:nvSpPr>
          <p:cNvPr id="154" name="TextBox 153"/>
          <p:cNvSpPr txBox="1"/>
          <p:nvPr/>
        </p:nvSpPr>
        <p:spPr>
          <a:xfrm>
            <a:off x="24429667" y="11450219"/>
            <a:ext cx="8389062" cy="1066241"/>
          </a:xfrm>
          <a:prstGeom prst="rect">
            <a:avLst/>
          </a:prstGeom>
          <a:noFill/>
        </p:spPr>
        <p:txBody>
          <a:bodyPr wrap="square" anchor="ctr">
            <a:spAutoFit/>
          </a:bodyPr>
          <a:lstStyle/>
          <a:p>
            <a:pPr algn="l">
              <a:spcBef>
                <a:spcPts val="0"/>
              </a:spcBef>
              <a:spcAft>
                <a:spcPts val="0"/>
              </a:spcAft>
            </a:pPr>
            <a:r>
              <a:rPr sz="1300" b="0">
                <a:solidFill>
                  <a:srgbClr val="2A3138"/>
                </a:solidFill>
                <a:latin typeface="Calibri"/>
                <a:ea typeface="Calibri"/>
                <a:cs typeface="Calibri"/>
              </a:rPr>
              <a:t>Long-segment intramedullary cystic lesions with enhancing mural nodules suggest hemangioblastomas.</a:t>
            </a:r>
          </a:p>
        </p:txBody>
      </p:sp>
      <p:sp>
        <p:nvSpPr>
          <p:cNvPr id="155" name="Rounded Rectangle 154"/>
          <p:cNvSpPr/>
          <p:nvPr/>
        </p:nvSpPr>
        <p:spPr>
          <a:xfrm>
            <a:off x="23862739" y="12626188"/>
            <a:ext cx="9065718" cy="1139393"/>
          </a:xfrm>
          <a:prstGeom prst="roundRect">
            <a:avLst>
              <a:gd name="adj" fmla="val 14000"/>
            </a:avLst>
          </a:prstGeom>
          <a:solidFill>
            <a:srgbClr val="EAF3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ounded Rectangle 155"/>
          <p:cNvSpPr/>
          <p:nvPr/>
        </p:nvSpPr>
        <p:spPr>
          <a:xfrm>
            <a:off x="23954179" y="13058725"/>
            <a:ext cx="365760" cy="274320"/>
          </a:xfrm>
          <a:prstGeom prst="roundRect">
            <a:avLst>
              <a:gd name="adj" fmla="val 25000"/>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23954179" y="13058725"/>
            <a:ext cx="36576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04</a:t>
            </a:r>
          </a:p>
        </p:txBody>
      </p:sp>
      <p:sp>
        <p:nvSpPr>
          <p:cNvPr id="158" name="TextBox 157"/>
          <p:cNvSpPr txBox="1"/>
          <p:nvPr/>
        </p:nvSpPr>
        <p:spPr>
          <a:xfrm>
            <a:off x="24429667" y="12662764"/>
            <a:ext cx="8389062" cy="1066241"/>
          </a:xfrm>
          <a:prstGeom prst="rect">
            <a:avLst/>
          </a:prstGeom>
          <a:noFill/>
        </p:spPr>
        <p:txBody>
          <a:bodyPr wrap="square" anchor="ctr">
            <a:spAutoFit/>
          </a:bodyPr>
          <a:lstStyle/>
          <a:p>
            <a:pPr algn="l">
              <a:spcBef>
                <a:spcPts val="0"/>
              </a:spcBef>
              <a:spcAft>
                <a:spcPts val="0"/>
              </a:spcAft>
            </a:pPr>
            <a:r>
              <a:rPr sz="1300" b="0">
                <a:solidFill>
                  <a:srgbClr val="2A3138"/>
                </a:solidFill>
                <a:latin typeface="Calibri"/>
                <a:ea typeface="Calibri"/>
                <a:cs typeface="Calibri"/>
              </a:rPr>
              <a:t>Pattern recognition across organ systems enables early diagnosis.</a:t>
            </a:r>
          </a:p>
        </p:txBody>
      </p:sp>
      <p:sp>
        <p:nvSpPr>
          <p:cNvPr id="159" name="Rounded Rectangle 158"/>
          <p:cNvSpPr/>
          <p:nvPr/>
        </p:nvSpPr>
        <p:spPr>
          <a:xfrm>
            <a:off x="23862739" y="13838734"/>
            <a:ext cx="9065718" cy="1139393"/>
          </a:xfrm>
          <a:prstGeom prst="roundRect">
            <a:avLst>
              <a:gd name="adj" fmla="val 14000"/>
            </a:avLst>
          </a:prstGeom>
          <a:solidFill>
            <a:srgbClr val="EAF3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ounded Rectangle 159"/>
          <p:cNvSpPr/>
          <p:nvPr/>
        </p:nvSpPr>
        <p:spPr>
          <a:xfrm>
            <a:off x="23954179" y="14271270"/>
            <a:ext cx="365760" cy="274320"/>
          </a:xfrm>
          <a:prstGeom prst="roundRect">
            <a:avLst>
              <a:gd name="adj" fmla="val 25000"/>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3954179" y="14271270"/>
            <a:ext cx="365760" cy="274320"/>
          </a:xfrm>
          <a:prstGeom prst="rect">
            <a:avLst/>
          </a:prstGeom>
          <a:noFill/>
        </p:spPr>
        <p:txBody>
          <a:bodyPr wrap="square" anchor="ctr">
            <a:spAutoFit/>
          </a:bodyPr>
          <a:lstStyle/>
          <a:p>
            <a:pPr algn="ctr">
              <a:spcBef>
                <a:spcPts val="0"/>
              </a:spcBef>
              <a:spcAft>
                <a:spcPts val="0"/>
              </a:spcAft>
            </a:pPr>
            <a:r>
              <a:rPr sz="1200" b="1">
                <a:solidFill>
                  <a:srgbClr val="FFFFFF"/>
                </a:solidFill>
                <a:latin typeface="Calibri"/>
                <a:ea typeface="Calibri"/>
                <a:cs typeface="Calibri"/>
              </a:rPr>
              <a:t>05</a:t>
            </a:r>
          </a:p>
        </p:txBody>
      </p:sp>
      <p:sp>
        <p:nvSpPr>
          <p:cNvPr id="162" name="TextBox 161"/>
          <p:cNvSpPr txBox="1"/>
          <p:nvPr/>
        </p:nvSpPr>
        <p:spPr>
          <a:xfrm>
            <a:off x="24429667" y="13875310"/>
            <a:ext cx="8389062" cy="1066241"/>
          </a:xfrm>
          <a:prstGeom prst="rect">
            <a:avLst/>
          </a:prstGeom>
          <a:noFill/>
        </p:spPr>
        <p:txBody>
          <a:bodyPr wrap="square" anchor="ctr">
            <a:spAutoFit/>
          </a:bodyPr>
          <a:lstStyle/>
          <a:p>
            <a:pPr algn="l">
              <a:spcBef>
                <a:spcPts val="0"/>
              </a:spcBef>
              <a:spcAft>
                <a:spcPts val="0"/>
              </a:spcAft>
            </a:pPr>
            <a:r>
              <a:rPr sz="1300" b="0">
                <a:solidFill>
                  <a:srgbClr val="2A3138"/>
                </a:solidFill>
                <a:latin typeface="Calibri"/>
                <a:ea typeface="Calibri"/>
                <a:cs typeface="Calibri"/>
              </a:rPr>
              <a:t>Imaging supports multidisciplinary management, surveillance and genetic counselling.</a:t>
            </a:r>
          </a:p>
        </p:txBody>
      </p:sp>
      <p:sp>
        <p:nvSpPr>
          <p:cNvPr id="163" name="Rounded Rectangle 162"/>
          <p:cNvSpPr/>
          <p:nvPr/>
        </p:nvSpPr>
        <p:spPr>
          <a:xfrm>
            <a:off x="23716435" y="15270735"/>
            <a:ext cx="9358326" cy="3009034"/>
          </a:xfrm>
          <a:prstGeom prst="roundRect">
            <a:avLst>
              <a:gd name="adj" fmla="val 7000"/>
            </a:avLst>
          </a:prstGeom>
          <a:solidFill>
            <a:srgbClr val="F2F7FC"/>
          </a:solidFill>
          <a:ln w="12700">
            <a:solidFill>
              <a:srgbClr val="D5DCE5"/>
            </a:solidFill>
          </a:ln>
          <a:effectLst>
            <a:outerShdw blurRad="45000" dist="32000" dir="2700000" algn="tl" rotWithShape="0">
              <a:prstClr val="black">
                <a:alpha val="16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ounded Rectangle 163"/>
          <p:cNvSpPr/>
          <p:nvPr/>
        </p:nvSpPr>
        <p:spPr>
          <a:xfrm>
            <a:off x="23899315" y="15435327"/>
            <a:ext cx="82296" cy="256032"/>
          </a:xfrm>
          <a:prstGeom prst="roundRect">
            <a:avLst>
              <a:gd name="adj" fmla="val 50000"/>
            </a:avLst>
          </a:prstGeom>
          <a:solidFill>
            <a:srgbClr val="00A6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24082195" y="15343887"/>
            <a:ext cx="8809686" cy="402336"/>
          </a:xfrm>
          <a:prstGeom prst="rect">
            <a:avLst/>
          </a:prstGeom>
          <a:noFill/>
        </p:spPr>
        <p:txBody>
          <a:bodyPr wrap="square" anchor="ctr">
            <a:spAutoFit/>
          </a:bodyPr>
          <a:lstStyle/>
          <a:p>
            <a:pPr algn="l">
              <a:spcBef>
                <a:spcPts val="0"/>
              </a:spcBef>
              <a:spcAft>
                <a:spcPts val="0"/>
              </a:spcAft>
            </a:pPr>
            <a:r>
              <a:rPr sz="3000" b="1">
                <a:solidFill>
                  <a:srgbClr val="12355B"/>
                </a:solidFill>
                <a:latin typeface="Calibri"/>
                <a:ea typeface="Calibri"/>
                <a:cs typeface="Calibri"/>
              </a:rPr>
              <a:t>References</a:t>
            </a:r>
          </a:p>
        </p:txBody>
      </p:sp>
      <p:sp>
        <p:nvSpPr>
          <p:cNvPr id="166" name="TextBox 165"/>
          <p:cNvSpPr txBox="1"/>
          <p:nvPr/>
        </p:nvSpPr>
        <p:spPr>
          <a:xfrm>
            <a:off x="23935891" y="15746223"/>
            <a:ext cx="8919414" cy="2442106"/>
          </a:xfrm>
          <a:prstGeom prst="rect">
            <a:avLst/>
          </a:prstGeom>
          <a:noFill/>
        </p:spPr>
        <p:txBody>
          <a:bodyPr wrap="square" anchor="t">
            <a:spAutoFit/>
          </a:bodyPr>
          <a:lstStyle/>
          <a:p>
            <a:pPr algn="l">
              <a:spcBef>
                <a:spcPts val="0"/>
              </a:spcBef>
              <a:spcAft>
                <a:spcPts val="0"/>
              </a:spcAft>
            </a:pPr>
            <a:r>
              <a:rPr sz="1300" b="0">
                <a:solidFill>
                  <a:srgbClr val="5B6573"/>
                </a:solidFill>
                <a:latin typeface="Calibri"/>
                <a:ea typeface="Calibri"/>
                <a:cs typeface="Calibri"/>
              </a:rPr>
              <a:t>Findings were correlated with clinicoradiological features and relevant published literature on VHL imaging.
1.  [Insert key VHL imaging reference]
2.  [Insert surveillance / management reference]
3.  [Insert additional citation as needed]</a:t>
            </a:r>
          </a:p>
        </p:txBody>
      </p:sp>
      <p:sp>
        <p:nvSpPr>
          <p:cNvPr id="167" name="Rectangle 166"/>
          <p:cNvSpPr/>
          <p:nvPr/>
        </p:nvSpPr>
        <p:spPr>
          <a:xfrm>
            <a:off x="0" y="18554090"/>
            <a:ext cx="33440522" cy="256032"/>
          </a:xfrm>
          <a:prstGeom prst="rect">
            <a:avLst/>
          </a:prstGeom>
          <a:solidFill>
            <a:srgbClr val="1235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365760" y="18554090"/>
            <a:ext cx="32709002" cy="256032"/>
          </a:xfrm>
          <a:prstGeom prst="rect">
            <a:avLst/>
          </a:prstGeom>
          <a:noFill/>
        </p:spPr>
        <p:txBody>
          <a:bodyPr wrap="square" anchor="ctr">
            <a:spAutoFit/>
          </a:bodyPr>
          <a:lstStyle/>
          <a:p>
            <a:pPr algn="ctr">
              <a:spcBef>
                <a:spcPts val="0"/>
              </a:spcBef>
              <a:spcAft>
                <a:spcPts val="0"/>
              </a:spcAft>
            </a:pPr>
            <a:r>
              <a:rPr sz="1200" b="0">
                <a:solidFill>
                  <a:srgbClr val="FFFFFF"/>
                </a:solidFill>
                <a:latin typeface="Calibri"/>
                <a:ea typeface="Calibri"/>
                <a:cs typeface="Calibri"/>
              </a:rPr>
              <a:t>APIRIA – 204   ·   Von Hippel–Lindau Disease   ·   Multisystem Imaging Diagnosis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